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35C6E7-5499-42E0-B8E1-E892D250CE58}" v="68" dt="2026-05-31T22:43:14.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p:scale>
          <a:sx n="25" d="100"/>
          <a:sy n="25" d="100"/>
        </p:scale>
        <p:origin x="1626" y="24"/>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Lujan" userId="da8756df24445728" providerId="LiveId" clId="{A86C11ED-B9B4-4AE9-9A57-E5E63AAEA8AA}"/>
    <pc:docChg chg="undo custSel modSld">
      <pc:chgData name="Laura Lujan" userId="da8756df24445728" providerId="LiveId" clId="{A86C11ED-B9B4-4AE9-9A57-E5E63AAEA8AA}" dt="2026-05-31T22:46:19.070" v="603" actId="20577"/>
      <pc:docMkLst>
        <pc:docMk/>
      </pc:docMkLst>
      <pc:sldChg chg="addSp delSp modSp mod">
        <pc:chgData name="Laura Lujan" userId="da8756df24445728" providerId="LiveId" clId="{A86C11ED-B9B4-4AE9-9A57-E5E63AAEA8AA}" dt="2026-05-31T22:46:19.070" v="603" actId="20577"/>
        <pc:sldMkLst>
          <pc:docMk/>
          <pc:sldMk cId="3160527046" sldId="258"/>
        </pc:sldMkLst>
        <pc:spChg chg="mod">
          <ac:chgData name="Laura Lujan" userId="da8756df24445728" providerId="LiveId" clId="{A86C11ED-B9B4-4AE9-9A57-E5E63AAEA8AA}" dt="2026-05-31T21:39:03.382" v="17"/>
          <ac:spMkLst>
            <pc:docMk/>
            <pc:sldMk cId="3160527046" sldId="258"/>
            <ac:spMk id="2" creationId="{00000000-0000-0000-0000-000000000000}"/>
          </ac:spMkLst>
        </pc:spChg>
        <pc:spChg chg="mod">
          <ac:chgData name="Laura Lujan" userId="da8756df24445728" providerId="LiveId" clId="{A86C11ED-B9B4-4AE9-9A57-E5E63AAEA8AA}" dt="2026-05-31T22:15:29.301" v="274" actId="313"/>
          <ac:spMkLst>
            <pc:docMk/>
            <pc:sldMk cId="3160527046" sldId="258"/>
            <ac:spMk id="5" creationId="{00000000-0000-0000-0000-000000000000}"/>
          </ac:spMkLst>
        </pc:spChg>
        <pc:spChg chg="mod">
          <ac:chgData name="Laura Lujan" userId="da8756df24445728" providerId="LiveId" clId="{A86C11ED-B9B4-4AE9-9A57-E5E63AAEA8AA}" dt="2026-05-31T22:38:37.334" v="362" actId="1076"/>
          <ac:spMkLst>
            <pc:docMk/>
            <pc:sldMk cId="3160527046" sldId="258"/>
            <ac:spMk id="9" creationId="{00000000-0000-0000-0000-000000000000}"/>
          </ac:spMkLst>
        </pc:spChg>
        <pc:spChg chg="add">
          <ac:chgData name="Laura Lujan" userId="da8756df24445728" providerId="LiveId" clId="{A86C11ED-B9B4-4AE9-9A57-E5E63AAEA8AA}" dt="2026-05-31T21:42:26.228" v="87"/>
          <ac:spMkLst>
            <pc:docMk/>
            <pc:sldMk cId="3160527046" sldId="258"/>
            <ac:spMk id="12" creationId="{31FD67F6-1755-F58E-25F2-B43538E77844}"/>
          </ac:spMkLst>
        </pc:spChg>
        <pc:spChg chg="add">
          <ac:chgData name="Laura Lujan" userId="da8756df24445728" providerId="LiveId" clId="{A86C11ED-B9B4-4AE9-9A57-E5E63AAEA8AA}" dt="2026-05-31T21:42:26.228" v="87"/>
          <ac:spMkLst>
            <pc:docMk/>
            <pc:sldMk cId="3160527046" sldId="258"/>
            <ac:spMk id="13" creationId="{0678B127-8370-B026-B9FA-BAAF3185D012}"/>
          </ac:spMkLst>
        </pc:spChg>
        <pc:spChg chg="add">
          <ac:chgData name="Laura Lujan" userId="da8756df24445728" providerId="LiveId" clId="{A86C11ED-B9B4-4AE9-9A57-E5E63AAEA8AA}" dt="2026-05-31T21:42:26.228" v="87"/>
          <ac:spMkLst>
            <pc:docMk/>
            <pc:sldMk cId="3160527046" sldId="258"/>
            <ac:spMk id="14" creationId="{EC6730D1-3B02-3379-FF48-823C83650E81}"/>
          </ac:spMkLst>
        </pc:spChg>
        <pc:spChg chg="add">
          <ac:chgData name="Laura Lujan" userId="da8756df24445728" providerId="LiveId" clId="{A86C11ED-B9B4-4AE9-9A57-E5E63AAEA8AA}" dt="2026-05-31T21:42:26.228" v="87"/>
          <ac:spMkLst>
            <pc:docMk/>
            <pc:sldMk cId="3160527046" sldId="258"/>
            <ac:spMk id="15" creationId="{F2FD415C-30CD-14E5-F9B4-9993E0D26DA8}"/>
          </ac:spMkLst>
        </pc:spChg>
        <pc:spChg chg="mod">
          <ac:chgData name="Laura Lujan" userId="da8756df24445728" providerId="LiveId" clId="{A86C11ED-B9B4-4AE9-9A57-E5E63AAEA8AA}" dt="2026-05-31T22:46:19.070" v="603" actId="20577"/>
          <ac:spMkLst>
            <pc:docMk/>
            <pc:sldMk cId="3160527046" sldId="258"/>
            <ac:spMk id="16" creationId="{00000000-0000-0000-0000-000000000000}"/>
          </ac:spMkLst>
        </pc:spChg>
        <pc:spChg chg="add">
          <ac:chgData name="Laura Lujan" userId="da8756df24445728" providerId="LiveId" clId="{A86C11ED-B9B4-4AE9-9A57-E5E63AAEA8AA}" dt="2026-05-31T21:42:26.228" v="87"/>
          <ac:spMkLst>
            <pc:docMk/>
            <pc:sldMk cId="3160527046" sldId="258"/>
            <ac:spMk id="17" creationId="{032E7DD9-615A-70D9-CDDD-3A67DA5D7953}"/>
          </ac:spMkLst>
        </pc:spChg>
        <pc:spChg chg="mod">
          <ac:chgData name="Laura Lujan" userId="da8756df24445728" providerId="LiveId" clId="{A86C11ED-B9B4-4AE9-9A57-E5E63AAEA8AA}" dt="2026-05-31T21:38:26.784" v="10" actId="313"/>
          <ac:spMkLst>
            <pc:docMk/>
            <pc:sldMk cId="3160527046" sldId="258"/>
            <ac:spMk id="18" creationId="{00000000-0000-0000-0000-000000000000}"/>
          </ac:spMkLst>
        </pc:spChg>
        <pc:spChg chg="add">
          <ac:chgData name="Laura Lujan" userId="da8756df24445728" providerId="LiveId" clId="{A86C11ED-B9B4-4AE9-9A57-E5E63AAEA8AA}" dt="2026-05-31T21:42:26.228" v="87"/>
          <ac:spMkLst>
            <pc:docMk/>
            <pc:sldMk cId="3160527046" sldId="258"/>
            <ac:spMk id="21" creationId="{1A50B5DA-BA8E-98F8-FC2B-F10D86B01851}"/>
          </ac:spMkLst>
        </pc:spChg>
        <pc:spChg chg="add">
          <ac:chgData name="Laura Lujan" userId="da8756df24445728" providerId="LiveId" clId="{A86C11ED-B9B4-4AE9-9A57-E5E63AAEA8AA}" dt="2026-05-31T21:42:26.228" v="87"/>
          <ac:spMkLst>
            <pc:docMk/>
            <pc:sldMk cId="3160527046" sldId="258"/>
            <ac:spMk id="23" creationId="{F84870A9-6581-9D3C-3BB9-D34AD590D09B}"/>
          </ac:spMkLst>
        </pc:spChg>
        <pc:spChg chg="add">
          <ac:chgData name="Laura Lujan" userId="da8756df24445728" providerId="LiveId" clId="{A86C11ED-B9B4-4AE9-9A57-E5E63AAEA8AA}" dt="2026-05-31T21:42:33.656" v="88"/>
          <ac:spMkLst>
            <pc:docMk/>
            <pc:sldMk cId="3160527046" sldId="258"/>
            <ac:spMk id="24" creationId="{6BA1EA66-1C82-E032-9997-A4F22D91E31F}"/>
          </ac:spMkLst>
        </pc:spChg>
        <pc:spChg chg="add">
          <ac:chgData name="Laura Lujan" userId="da8756df24445728" providerId="LiveId" clId="{A86C11ED-B9B4-4AE9-9A57-E5E63AAEA8AA}" dt="2026-05-31T21:42:33.656" v="88"/>
          <ac:spMkLst>
            <pc:docMk/>
            <pc:sldMk cId="3160527046" sldId="258"/>
            <ac:spMk id="26" creationId="{70052605-FACD-DD93-122A-ABB876B397F0}"/>
          </ac:spMkLst>
        </pc:spChg>
        <pc:spChg chg="mod">
          <ac:chgData name="Laura Lujan" userId="da8756df24445728" providerId="LiveId" clId="{A86C11ED-B9B4-4AE9-9A57-E5E63AAEA8AA}" dt="2026-05-31T22:44:10.527" v="410" actId="1076"/>
          <ac:spMkLst>
            <pc:docMk/>
            <pc:sldMk cId="3160527046" sldId="258"/>
            <ac:spMk id="27" creationId="{00000000-0000-0000-0000-000000000000}"/>
          </ac:spMkLst>
        </pc:spChg>
        <pc:spChg chg="mod">
          <ac:chgData name="Laura Lujan" userId="da8756df24445728" providerId="LiveId" clId="{A86C11ED-B9B4-4AE9-9A57-E5E63AAEA8AA}" dt="2026-05-31T22:41:04.603" v="389" actId="1076"/>
          <ac:spMkLst>
            <pc:docMk/>
            <pc:sldMk cId="3160527046" sldId="258"/>
            <ac:spMk id="28" creationId="{00000000-0000-0000-0000-000000000000}"/>
          </ac:spMkLst>
        </pc:spChg>
        <pc:spChg chg="del">
          <ac:chgData name="Laura Lujan" userId="da8756df24445728" providerId="LiveId" clId="{A86C11ED-B9B4-4AE9-9A57-E5E63AAEA8AA}" dt="2026-05-31T22:32:20.349" v="314" actId="478"/>
          <ac:spMkLst>
            <pc:docMk/>
            <pc:sldMk cId="3160527046" sldId="258"/>
            <ac:spMk id="29" creationId="{00000000-0000-0000-0000-000000000000}"/>
          </ac:spMkLst>
        </pc:spChg>
        <pc:spChg chg="mod">
          <ac:chgData name="Laura Lujan" userId="da8756df24445728" providerId="LiveId" clId="{A86C11ED-B9B4-4AE9-9A57-E5E63AAEA8AA}" dt="2026-05-31T22:38:27.765" v="358" actId="1076"/>
          <ac:spMkLst>
            <pc:docMk/>
            <pc:sldMk cId="3160527046" sldId="258"/>
            <ac:spMk id="30" creationId="{00000000-0000-0000-0000-000000000000}"/>
          </ac:spMkLst>
        </pc:spChg>
        <pc:spChg chg="mod">
          <ac:chgData name="Laura Lujan" userId="da8756df24445728" providerId="LiveId" clId="{A86C11ED-B9B4-4AE9-9A57-E5E63AAEA8AA}" dt="2026-05-31T22:38:30.848" v="359" actId="1076"/>
          <ac:spMkLst>
            <pc:docMk/>
            <pc:sldMk cId="3160527046" sldId="258"/>
            <ac:spMk id="31" creationId="{00000000-0000-0000-0000-000000000000}"/>
          </ac:spMkLst>
        </pc:spChg>
        <pc:spChg chg="mod">
          <ac:chgData name="Laura Lujan" userId="da8756df24445728" providerId="LiveId" clId="{A86C11ED-B9B4-4AE9-9A57-E5E63AAEA8AA}" dt="2026-05-31T21:45:16.721" v="223" actId="108"/>
          <ac:spMkLst>
            <pc:docMk/>
            <pc:sldMk cId="3160527046" sldId="258"/>
            <ac:spMk id="32" creationId="{00000000-0000-0000-0000-000000000000}"/>
          </ac:spMkLst>
        </pc:spChg>
        <pc:spChg chg="add">
          <ac:chgData name="Laura Lujan" userId="da8756df24445728" providerId="LiveId" clId="{A86C11ED-B9B4-4AE9-9A57-E5E63AAEA8AA}" dt="2026-05-31T21:42:33.656" v="88"/>
          <ac:spMkLst>
            <pc:docMk/>
            <pc:sldMk cId="3160527046" sldId="258"/>
            <ac:spMk id="33" creationId="{A0B2205D-3F4C-B22B-FF25-35E42AFF2A25}"/>
          </ac:spMkLst>
        </pc:spChg>
        <pc:spChg chg="mod">
          <ac:chgData name="Laura Lujan" userId="da8756df24445728" providerId="LiveId" clId="{A86C11ED-B9B4-4AE9-9A57-E5E63AAEA8AA}" dt="2026-05-31T22:15:18.809" v="272" actId="1076"/>
          <ac:spMkLst>
            <pc:docMk/>
            <pc:sldMk cId="3160527046" sldId="258"/>
            <ac:spMk id="34" creationId="{00000000-0000-0000-0000-000000000000}"/>
          </ac:spMkLst>
        </pc:spChg>
        <pc:spChg chg="mod">
          <ac:chgData name="Laura Lujan" userId="da8756df24445728" providerId="LiveId" clId="{A86C11ED-B9B4-4AE9-9A57-E5E63AAEA8AA}" dt="2026-05-31T22:15:23.262" v="273" actId="1076"/>
          <ac:spMkLst>
            <pc:docMk/>
            <pc:sldMk cId="3160527046" sldId="258"/>
            <ac:spMk id="35" creationId="{9000B3FD-55D3-45AB-92CB-10A741BAA0B3}"/>
          </ac:spMkLst>
        </pc:spChg>
        <pc:spChg chg="mod">
          <ac:chgData name="Laura Lujan" userId="da8756df24445728" providerId="LiveId" clId="{A86C11ED-B9B4-4AE9-9A57-E5E63AAEA8AA}" dt="2026-05-31T22:41:07.041" v="390" actId="1076"/>
          <ac:spMkLst>
            <pc:docMk/>
            <pc:sldMk cId="3160527046" sldId="258"/>
            <ac:spMk id="36" creationId="{00000000-0000-0000-0000-000000000000}"/>
          </ac:spMkLst>
        </pc:spChg>
        <pc:spChg chg="del">
          <ac:chgData name="Laura Lujan" userId="da8756df24445728" providerId="LiveId" clId="{A86C11ED-B9B4-4AE9-9A57-E5E63AAEA8AA}" dt="2026-05-31T22:32:18.194" v="313" actId="478"/>
          <ac:spMkLst>
            <pc:docMk/>
            <pc:sldMk cId="3160527046" sldId="258"/>
            <ac:spMk id="38" creationId="{00000000-0000-0000-0000-000000000000}"/>
          </ac:spMkLst>
        </pc:spChg>
        <pc:spChg chg="mod">
          <ac:chgData name="Laura Lujan" userId="da8756df24445728" providerId="LiveId" clId="{A86C11ED-B9B4-4AE9-9A57-E5E63AAEA8AA}" dt="2026-05-31T21:50:23.243" v="247" actId="1076"/>
          <ac:spMkLst>
            <pc:docMk/>
            <pc:sldMk cId="3160527046" sldId="258"/>
            <ac:spMk id="40" creationId="{00000000-0000-0000-0000-000000000000}"/>
          </ac:spMkLst>
        </pc:spChg>
        <pc:spChg chg="mod">
          <ac:chgData name="Laura Lujan" userId="da8756df24445728" providerId="LiveId" clId="{A86C11ED-B9B4-4AE9-9A57-E5E63AAEA8AA}" dt="2026-05-31T21:50:26.323" v="248" actId="1076"/>
          <ac:spMkLst>
            <pc:docMk/>
            <pc:sldMk cId="3160527046" sldId="258"/>
            <ac:spMk id="41" creationId="{00000000-0000-0000-0000-000000000000}"/>
          </ac:spMkLst>
        </pc:spChg>
        <pc:spChg chg="mod">
          <ac:chgData name="Laura Lujan" userId="da8756df24445728" providerId="LiveId" clId="{A86C11ED-B9B4-4AE9-9A57-E5E63AAEA8AA}" dt="2026-05-31T22:40:19.078" v="383" actId="313"/>
          <ac:spMkLst>
            <pc:docMk/>
            <pc:sldMk cId="3160527046" sldId="258"/>
            <ac:spMk id="42" creationId="{00000000-0000-0000-0000-000000000000}"/>
          </ac:spMkLst>
        </pc:spChg>
        <pc:spChg chg="add">
          <ac:chgData name="Laura Lujan" userId="da8756df24445728" providerId="LiveId" clId="{A86C11ED-B9B4-4AE9-9A57-E5E63AAEA8AA}" dt="2026-05-31T21:42:33.656" v="88"/>
          <ac:spMkLst>
            <pc:docMk/>
            <pc:sldMk cId="3160527046" sldId="258"/>
            <ac:spMk id="44" creationId="{6C3F2AFC-CEA4-6C84-79F8-56F75DA24964}"/>
          </ac:spMkLst>
        </pc:spChg>
        <pc:spChg chg="mod">
          <ac:chgData name="Laura Lujan" userId="da8756df24445728" providerId="LiveId" clId="{A86C11ED-B9B4-4AE9-9A57-E5E63AAEA8AA}" dt="2026-05-31T22:44:14.763" v="411" actId="1076"/>
          <ac:spMkLst>
            <pc:docMk/>
            <pc:sldMk cId="3160527046" sldId="258"/>
            <ac:spMk id="46" creationId="{BA7BC14E-5C68-4BFC-B8B8-A1CD9BF3BFC9}"/>
          </ac:spMkLst>
        </pc:spChg>
        <pc:spChg chg="mod">
          <ac:chgData name="Laura Lujan" userId="da8756df24445728" providerId="LiveId" clId="{A86C11ED-B9B4-4AE9-9A57-E5E63AAEA8AA}" dt="2026-05-31T22:35:28.619" v="343" actId="14100"/>
          <ac:spMkLst>
            <pc:docMk/>
            <pc:sldMk cId="3160527046" sldId="258"/>
            <ac:spMk id="47" creationId="{C12A8FE5-E10F-498E-9E7D-EC629905A877}"/>
          </ac:spMkLst>
        </pc:spChg>
        <pc:spChg chg="add">
          <ac:chgData name="Laura Lujan" userId="da8756df24445728" providerId="LiveId" clId="{A86C11ED-B9B4-4AE9-9A57-E5E63AAEA8AA}" dt="2026-05-31T21:42:33.656" v="88"/>
          <ac:spMkLst>
            <pc:docMk/>
            <pc:sldMk cId="3160527046" sldId="258"/>
            <ac:spMk id="48" creationId="{AE3DB8DA-A5E2-2A0C-4B07-68EFFD4CB3C0}"/>
          </ac:spMkLst>
        </pc:spChg>
        <pc:spChg chg="add">
          <ac:chgData name="Laura Lujan" userId="da8756df24445728" providerId="LiveId" clId="{A86C11ED-B9B4-4AE9-9A57-E5E63AAEA8AA}" dt="2026-05-31T21:42:33.656" v="88"/>
          <ac:spMkLst>
            <pc:docMk/>
            <pc:sldMk cId="3160527046" sldId="258"/>
            <ac:spMk id="49" creationId="{9B15F82A-501B-3F60-EE59-ED83C0FFDFDA}"/>
          </ac:spMkLst>
        </pc:spChg>
        <pc:spChg chg="add">
          <ac:chgData name="Laura Lujan" userId="da8756df24445728" providerId="LiveId" clId="{A86C11ED-B9B4-4AE9-9A57-E5E63AAEA8AA}" dt="2026-05-31T21:42:33.656" v="88"/>
          <ac:spMkLst>
            <pc:docMk/>
            <pc:sldMk cId="3160527046" sldId="258"/>
            <ac:spMk id="50" creationId="{69AEC510-0639-8431-6724-1DD2F3EDD54E}"/>
          </ac:spMkLst>
        </pc:spChg>
        <pc:spChg chg="add del">
          <ac:chgData name="Laura Lujan" userId="da8756df24445728" providerId="LiveId" clId="{A86C11ED-B9B4-4AE9-9A57-E5E63AAEA8AA}" dt="2026-05-31T21:43:19.591" v="199" actId="22"/>
          <ac:spMkLst>
            <pc:docMk/>
            <pc:sldMk cId="3160527046" sldId="258"/>
            <ac:spMk id="52" creationId="{E1BEB1F4-6A8B-76B8-3985-B87E3264600F}"/>
          </ac:spMkLst>
        </pc:spChg>
        <pc:spChg chg="add del">
          <ac:chgData name="Laura Lujan" userId="da8756df24445728" providerId="LiveId" clId="{A86C11ED-B9B4-4AE9-9A57-E5E63AAEA8AA}" dt="2026-05-31T21:43:21.262" v="201" actId="22"/>
          <ac:spMkLst>
            <pc:docMk/>
            <pc:sldMk cId="3160527046" sldId="258"/>
            <ac:spMk id="54" creationId="{AC5C4465-3CD2-2BBB-4B07-F0E3F335FDCD}"/>
          </ac:spMkLst>
        </pc:spChg>
        <pc:spChg chg="add mod">
          <ac:chgData name="Laura Lujan" userId="da8756df24445728" providerId="LiveId" clId="{A86C11ED-B9B4-4AE9-9A57-E5E63AAEA8AA}" dt="2026-05-31T21:44:35.983" v="215"/>
          <ac:spMkLst>
            <pc:docMk/>
            <pc:sldMk cId="3160527046" sldId="258"/>
            <ac:spMk id="56" creationId="{3B726704-8257-6FBB-1900-B35E2C34FB07}"/>
          </ac:spMkLst>
        </pc:spChg>
        <pc:spChg chg="add del mod">
          <ac:chgData name="Laura Lujan" userId="da8756df24445728" providerId="LiveId" clId="{A86C11ED-B9B4-4AE9-9A57-E5E63AAEA8AA}" dt="2026-05-31T21:45:03.521" v="221"/>
          <ac:spMkLst>
            <pc:docMk/>
            <pc:sldMk cId="3160527046" sldId="258"/>
            <ac:spMk id="57" creationId="{BBC13E77-F5BD-1782-A263-8CA3A465656D}"/>
          </ac:spMkLst>
        </pc:spChg>
        <pc:spChg chg="add del mod">
          <ac:chgData name="Laura Lujan" userId="da8756df24445728" providerId="LiveId" clId="{A86C11ED-B9B4-4AE9-9A57-E5E63AAEA8AA}" dt="2026-05-31T22:34:36.842" v="333" actId="478"/>
          <ac:spMkLst>
            <pc:docMk/>
            <pc:sldMk cId="3160527046" sldId="258"/>
            <ac:spMk id="4101" creationId="{313E4995-864B-8565-A858-76D91CFF22FF}"/>
          </ac:spMkLst>
        </pc:spChg>
        <pc:spChg chg="add del mod">
          <ac:chgData name="Laura Lujan" userId="da8756df24445728" providerId="LiveId" clId="{A86C11ED-B9B4-4AE9-9A57-E5E63AAEA8AA}" dt="2026-05-31T22:32:50.176" v="320" actId="478"/>
          <ac:spMkLst>
            <pc:docMk/>
            <pc:sldMk cId="3160527046" sldId="258"/>
            <ac:spMk id="4103" creationId="{F02FB0B0-3038-4028-E268-45A0A43AC6C6}"/>
          </ac:spMkLst>
        </pc:spChg>
        <pc:spChg chg="add mod">
          <ac:chgData name="Laura Lujan" userId="da8756df24445728" providerId="LiveId" clId="{A86C11ED-B9B4-4AE9-9A57-E5E63AAEA8AA}" dt="2026-05-31T22:37:06.026" v="348"/>
          <ac:spMkLst>
            <pc:docMk/>
            <pc:sldMk cId="3160527046" sldId="258"/>
            <ac:spMk id="4106" creationId="{5EE93C39-D4B7-3D45-5E36-D3EB6767D705}"/>
          </ac:spMkLst>
        </pc:spChg>
        <pc:spChg chg="add mod">
          <ac:chgData name="Laura Lujan" userId="da8756df24445728" providerId="LiveId" clId="{A86C11ED-B9B4-4AE9-9A57-E5E63AAEA8AA}" dt="2026-05-31T22:37:27.560" v="354" actId="1076"/>
          <ac:spMkLst>
            <pc:docMk/>
            <pc:sldMk cId="3160527046" sldId="258"/>
            <ac:spMk id="4107" creationId="{AECE974E-F71E-E5F4-5572-8595BC039CC1}"/>
          </ac:spMkLst>
        </pc:spChg>
        <pc:spChg chg="add mod">
          <ac:chgData name="Laura Lujan" userId="da8756df24445728" providerId="LiveId" clId="{A86C11ED-B9B4-4AE9-9A57-E5E63AAEA8AA}" dt="2026-05-31T22:44:25.804" v="413" actId="1076"/>
          <ac:spMkLst>
            <pc:docMk/>
            <pc:sldMk cId="3160527046" sldId="258"/>
            <ac:spMk id="4108" creationId="{C836E6B4-8276-34A9-F8FE-C29ADDB1E038}"/>
          </ac:spMkLst>
        </pc:spChg>
        <pc:spChg chg="add mod">
          <ac:chgData name="Laura Lujan" userId="da8756df24445728" providerId="LiveId" clId="{A86C11ED-B9B4-4AE9-9A57-E5E63AAEA8AA}" dt="2026-05-31T22:44:28.705" v="414" actId="1076"/>
          <ac:spMkLst>
            <pc:docMk/>
            <pc:sldMk cId="3160527046" sldId="258"/>
            <ac:spMk id="4109" creationId="{B81B1A0F-25E9-6928-FCCE-A9A259874501}"/>
          </ac:spMkLst>
        </pc:spChg>
        <pc:graphicFrameChg chg="del">
          <ac:chgData name="Laura Lujan" userId="da8756df24445728" providerId="LiveId" clId="{A86C11ED-B9B4-4AE9-9A57-E5E63AAEA8AA}" dt="2026-05-31T22:25:18.995" v="275" actId="478"/>
          <ac:graphicFrameMkLst>
            <pc:docMk/>
            <pc:sldMk cId="3160527046" sldId="258"/>
            <ac:graphicFrameMk id="37" creationId="{00000000-0000-0000-0000-000000000000}"/>
          </ac:graphicFrameMkLst>
        </pc:graphicFrameChg>
        <pc:picChg chg="add mod">
          <ac:chgData name="Laura Lujan" userId="da8756df24445728" providerId="LiveId" clId="{A86C11ED-B9B4-4AE9-9A57-E5E63AAEA8AA}" dt="2026-05-31T21:44:31.086" v="213" actId="1076"/>
          <ac:picMkLst>
            <pc:docMk/>
            <pc:sldMk cId="3160527046" sldId="258"/>
            <ac:picMk id="10" creationId="{836E3AC5-9837-1983-DB05-8282D74C4D2B}"/>
          </ac:picMkLst>
        </pc:picChg>
        <pc:picChg chg="del">
          <ac:chgData name="Laura Lujan" userId="da8756df24445728" providerId="LiveId" clId="{A86C11ED-B9B4-4AE9-9A57-E5E63AAEA8AA}" dt="2026-05-31T22:34:31.511" v="331" actId="478"/>
          <ac:picMkLst>
            <pc:docMk/>
            <pc:sldMk cId="3160527046" sldId="258"/>
            <ac:picMk id="19" creationId="{00000000-0000-0000-0000-000000000000}"/>
          </ac:picMkLst>
        </pc:picChg>
        <pc:picChg chg="del">
          <ac:chgData name="Laura Lujan" userId="da8756df24445728" providerId="LiveId" clId="{A86C11ED-B9B4-4AE9-9A57-E5E63AAEA8AA}" dt="2026-05-31T22:14:48.419" v="265" actId="478"/>
          <ac:picMkLst>
            <pc:docMk/>
            <pc:sldMk cId="3160527046" sldId="258"/>
            <ac:picMk id="20" creationId="{00000000-0000-0000-0000-000000000000}"/>
          </ac:picMkLst>
        </pc:picChg>
        <pc:picChg chg="del">
          <ac:chgData name="Laura Lujan" userId="da8756df24445728" providerId="LiveId" clId="{A86C11ED-B9B4-4AE9-9A57-E5E63AAEA8AA}" dt="2026-05-31T22:01:47.393" v="249" actId="478"/>
          <ac:picMkLst>
            <pc:docMk/>
            <pc:sldMk cId="3160527046" sldId="258"/>
            <ac:picMk id="22" creationId="{00000000-0000-0000-0000-000000000000}"/>
          </ac:picMkLst>
        </pc:picChg>
        <pc:picChg chg="add mod">
          <ac:chgData name="Laura Lujan" userId="da8756df24445728" providerId="LiveId" clId="{A86C11ED-B9B4-4AE9-9A57-E5E63AAEA8AA}" dt="2026-05-31T22:01:54.335" v="253" actId="1076"/>
          <ac:picMkLst>
            <pc:docMk/>
            <pc:sldMk cId="3160527046" sldId="258"/>
            <ac:picMk id="59" creationId="{3C5C4238-C8DF-DF79-DB49-81BA8D4C4382}"/>
          </ac:picMkLst>
        </pc:picChg>
        <pc:picChg chg="add mod">
          <ac:chgData name="Laura Lujan" userId="da8756df24445728" providerId="LiveId" clId="{A86C11ED-B9B4-4AE9-9A57-E5E63AAEA8AA}" dt="2026-05-31T22:14:52.781" v="267" actId="1076"/>
          <ac:picMkLst>
            <pc:docMk/>
            <pc:sldMk cId="3160527046" sldId="258"/>
            <ac:picMk id="61" creationId="{DA1A3584-44A0-C568-485A-BB9D487A8BD1}"/>
          </ac:picMkLst>
        </pc:picChg>
        <pc:picChg chg="add mod">
          <ac:chgData name="Laura Lujan" userId="da8756df24445728" providerId="LiveId" clId="{A86C11ED-B9B4-4AE9-9A57-E5E63AAEA8AA}" dt="2026-05-31T22:25:37.983" v="282" actId="14100"/>
          <ac:picMkLst>
            <pc:docMk/>
            <pc:sldMk cId="3160527046" sldId="258"/>
            <ac:picMk id="63" creationId="{9B91F188-A1D1-4CD8-7891-C98C11932D18}"/>
          </ac:picMkLst>
        </pc:picChg>
        <pc:picChg chg="add mod">
          <ac:chgData name="Laura Lujan" userId="da8756df24445728" providerId="LiveId" clId="{A86C11ED-B9B4-4AE9-9A57-E5E63AAEA8AA}" dt="2026-05-31T22:44:05.689" v="409" actId="14100"/>
          <ac:picMkLst>
            <pc:docMk/>
            <pc:sldMk cId="3160527046" sldId="258"/>
            <ac:picMk id="4096" creationId="{6A95C329-D2AC-9133-C0C1-DD740C493269}"/>
          </ac:picMkLst>
        </pc:picChg>
        <pc:picChg chg="del">
          <ac:chgData name="Laura Lujan" userId="da8756df24445728" providerId="LiveId" clId="{A86C11ED-B9B4-4AE9-9A57-E5E63AAEA8AA}" dt="2026-05-31T22:34:32.275" v="332" actId="478"/>
          <ac:picMkLst>
            <pc:docMk/>
            <pc:sldMk cId="3160527046" sldId="258"/>
            <ac:picMk id="4098" creationId="{00000000-0000-0000-0000-000000000000}"/>
          </ac:picMkLst>
        </pc:picChg>
        <pc:picChg chg="del">
          <ac:chgData name="Laura Lujan" userId="da8756df24445728" providerId="LiveId" clId="{A86C11ED-B9B4-4AE9-9A57-E5E63AAEA8AA}" dt="2026-05-31T21:40:37.733" v="18" actId="478"/>
          <ac:picMkLst>
            <pc:docMk/>
            <pc:sldMk cId="3160527046" sldId="258"/>
            <ac:picMk id="4099" creationId="{00000000-0000-0000-0000-000000000000}"/>
          </ac:picMkLst>
        </pc:picChg>
        <pc:picChg chg="del">
          <ac:chgData name="Laura Lujan" userId="da8756df24445728" providerId="LiveId" clId="{A86C11ED-B9B4-4AE9-9A57-E5E63AAEA8AA}" dt="2026-05-31T22:29:24.888" v="297" actId="478"/>
          <ac:picMkLst>
            <pc:docMk/>
            <pc:sldMk cId="3160527046" sldId="258"/>
            <ac:picMk id="4100" creationId="{00000000-0000-0000-0000-000000000000}"/>
          </ac:picMkLst>
        </pc:picChg>
        <pc:picChg chg="add mod">
          <ac:chgData name="Laura Lujan" userId="da8756df24445728" providerId="LiveId" clId="{A86C11ED-B9B4-4AE9-9A57-E5E63AAEA8AA}" dt="2026-05-31T22:44:21.222" v="412" actId="1076"/>
          <ac:picMkLst>
            <pc:docMk/>
            <pc:sldMk cId="3160527046" sldId="258"/>
            <ac:picMk id="4104" creationId="{AB271B9C-A9E4-6060-D7D1-0B357D9BFAB6}"/>
          </ac:picMkLst>
        </pc:picChg>
        <pc:picChg chg="add mod">
          <ac:chgData name="Laura Lujan" userId="da8756df24445728" providerId="LiveId" clId="{A86C11ED-B9B4-4AE9-9A57-E5E63AAEA8AA}" dt="2026-05-31T22:38:33.432" v="361" actId="1076"/>
          <ac:picMkLst>
            <pc:docMk/>
            <pc:sldMk cId="3160527046" sldId="258"/>
            <ac:picMk id="4105" creationId="{0DC3B3CF-D257-23EA-B1A7-A61773876D1A}"/>
          </ac:picMkLst>
        </pc:picChg>
        <pc:picChg chg="add mod">
          <ac:chgData name="Laura Lujan" userId="da8756df24445728" providerId="LiveId" clId="{A86C11ED-B9B4-4AE9-9A57-E5E63AAEA8AA}" dt="2026-05-31T22:44:36.477" v="418" actId="1076"/>
          <ac:picMkLst>
            <pc:docMk/>
            <pc:sldMk cId="3160527046" sldId="258"/>
            <ac:picMk id="4110" creationId="{30FEB3F4-83BF-7EA1-0BDB-E98AB862EDD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5/31/2026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41" name="Object 40"/>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43" name="Object 42"/>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56" name="Object 55"/>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58" name="Object 57"/>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6" name="Object 45"/>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8" name="Object 47"/>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1" name="Object 60"/>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2" name="Object 61"/>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5" name="Object 44"/>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7" name="Object 46"/>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0" name="Object 59"/>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1" name="Object 60"/>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91425" y="6378481"/>
            <a:ext cx="10056813" cy="4154961"/>
          </a:xfrm>
        </p:spPr>
        <p:txBody>
          <a:bodyPr/>
          <a:lstStyle/>
          <a:p>
            <a:r>
              <a:rPr lang="en-US" sz="2400" dirty="0">
                <a:solidFill>
                  <a:schemeClr val="tx1"/>
                </a:solidFill>
                <a:latin typeface="Arial" panose="020B0604020202020204" pitchFamily="34" charset="0"/>
                <a:cs typeface="Arial" panose="020B0604020202020204" pitchFamily="34" charset="0"/>
              </a:rPr>
              <a:t>This project develops a machine learning model to predict daily hotel occupancy and recommend optimal staffing levels for a city-</a:t>
            </a:r>
            <a:r>
              <a:rPr lang="en-US" sz="2400" dirty="0" err="1">
                <a:solidFill>
                  <a:schemeClr val="tx1"/>
                </a:solidFill>
                <a:latin typeface="Arial" panose="020B0604020202020204" pitchFamily="34" charset="0"/>
                <a:cs typeface="Arial" panose="020B0604020202020204" pitchFamily="34" charset="0"/>
              </a:rPr>
              <a:t>centre</a:t>
            </a:r>
            <a:r>
              <a:rPr lang="en-US" sz="2400" dirty="0">
                <a:solidFill>
                  <a:schemeClr val="tx1"/>
                </a:solidFill>
                <a:latin typeface="Arial" panose="020B0604020202020204" pitchFamily="34" charset="0"/>
                <a:cs typeface="Arial" panose="020B0604020202020204" pitchFamily="34" charset="0"/>
              </a:rPr>
              <a:t> hotel in Dublin. Three datasets were combined: historical hotel booking records (Kaggle), daily weather observations (Met Éireann), and a synthetic Dublin events dataset. Following the CRISP-DM methodology, a Random Forest Regression model was trained on 793 days of data covering 2015–2017. The final model achieved an R² of 0.7133 and a Mean Absolute Error of 16.66 guests, demonstrating that data-driven staffing recommendations are both achievable and operationally practical.</a:t>
            </a:r>
            <a:endParaRPr lang="en-US" dirty="0"/>
          </a:p>
        </p:txBody>
      </p:sp>
      <p:sp>
        <p:nvSpPr>
          <p:cNvPr id="3" name="Text Placeholder 2"/>
          <p:cNvSpPr>
            <a:spLocks noGrp="1"/>
          </p:cNvSpPr>
          <p:nvPr>
            <p:ph type="body" sz="quarter" idx="11"/>
          </p:nvPr>
        </p:nvSpPr>
        <p:spPr/>
        <p:txBody>
          <a:bodyPr/>
          <a:lstStyle/>
          <a:p>
            <a:r>
              <a:rPr lang="en-US" dirty="0">
                <a:solidFill>
                  <a:schemeClr val="tx2"/>
                </a:solidFill>
                <a:latin typeface="Arial" panose="020B0604020202020204" pitchFamily="34" charset="0"/>
                <a:cs typeface="Arial" panose="020B0604020202020204" pitchFamily="34" charset="0"/>
              </a:rPr>
              <a:t>ABSTRACT</a:t>
            </a:r>
          </a:p>
        </p:txBody>
      </p:sp>
      <p:sp>
        <p:nvSpPr>
          <p:cNvPr id="4" name="Text Placeholder 3"/>
          <p:cNvSpPr>
            <a:spLocks noGrp="1"/>
          </p:cNvSpPr>
          <p:nvPr>
            <p:ph type="body" sz="quarter" idx="20"/>
          </p:nvPr>
        </p:nvSpPr>
        <p:spPr>
          <a:xfrm>
            <a:off x="509578" y="18648837"/>
            <a:ext cx="10050462" cy="754045"/>
          </a:xfrm>
        </p:spPr>
        <p:txBody>
          <a:bodyPr/>
          <a:lstStyle/>
          <a:p>
            <a:r>
              <a:rPr lang="en-US" dirty="0">
                <a:solidFill>
                  <a:schemeClr val="tx2"/>
                </a:solidFill>
                <a:latin typeface="Arial" panose="020B0604020202020204" pitchFamily="34" charset="0"/>
                <a:cs typeface="Arial" panose="020B0604020202020204" pitchFamily="34" charset="0"/>
              </a:rPr>
              <a:t>CONCEPTUAL FRAMEWORK</a:t>
            </a:r>
          </a:p>
        </p:txBody>
      </p:sp>
      <p:sp>
        <p:nvSpPr>
          <p:cNvPr id="5" name="Text Placeholder 4"/>
          <p:cNvSpPr>
            <a:spLocks noGrp="1"/>
          </p:cNvSpPr>
          <p:nvPr>
            <p:ph type="body" sz="quarter" idx="21"/>
          </p:nvPr>
        </p:nvSpPr>
        <p:spPr>
          <a:xfrm>
            <a:off x="11516684" y="6302794"/>
            <a:ext cx="10048874" cy="3416298"/>
          </a:xfrm>
        </p:spPr>
        <p:txBody>
          <a:bodyPr/>
          <a:lstStyle/>
          <a:p>
            <a:r>
              <a:rPr lang="en-US" sz="2400" dirty="0">
                <a:solidFill>
                  <a:schemeClr val="tx1"/>
                </a:solidFill>
                <a:latin typeface="Arial" panose="020B0604020202020204" pitchFamily="34" charset="0"/>
                <a:cs typeface="Arial" panose="020B0604020202020204" pitchFamily="34" charset="0"/>
              </a:rPr>
              <a:t>This project follows a quantitative, empirical research paradigm. Rather than collecting data from human participants, knowledge is derived from historical datasets and validated through measurable performance metrics. The approach is positivist in nature, patterns in hotel occupancy are assumed to follow consistent, discoverable rules that a machine learning model can learn from past data and apply to future predictions. The diagram below characterizes the data pipeline that forms the technical foundation of this study.</a:t>
            </a:r>
          </a:p>
        </p:txBody>
      </p:sp>
      <p:sp>
        <p:nvSpPr>
          <p:cNvPr id="6" name="Text Placeholder 5"/>
          <p:cNvSpPr>
            <a:spLocks noGrp="1"/>
          </p:cNvSpPr>
          <p:nvPr>
            <p:ph type="body" sz="quarter" idx="22"/>
          </p:nvPr>
        </p:nvSpPr>
        <p:spPr/>
        <p:txBody>
          <a:bodyPr/>
          <a:lstStyle/>
          <a:p>
            <a:r>
              <a:rPr lang="en-US" dirty="0">
                <a:solidFill>
                  <a:schemeClr val="tx2"/>
                </a:solidFill>
                <a:latin typeface="Arial" panose="020B0604020202020204" pitchFamily="34" charset="0"/>
                <a:cs typeface="Arial" panose="020B0604020202020204" pitchFamily="34" charset="0"/>
              </a:rPr>
              <a:t>RESEARCH PARADIGM</a:t>
            </a:r>
          </a:p>
        </p:txBody>
      </p:sp>
      <p:sp>
        <p:nvSpPr>
          <p:cNvPr id="8" name="Text Placeholder 7"/>
          <p:cNvSpPr>
            <a:spLocks noGrp="1"/>
          </p:cNvSpPr>
          <p:nvPr>
            <p:ph type="body" sz="quarter" idx="24"/>
          </p:nvPr>
        </p:nvSpPr>
        <p:spPr/>
        <p:txBody>
          <a:bodyPr/>
          <a:lstStyle/>
          <a:p>
            <a:r>
              <a:rPr lang="en-US" dirty="0">
                <a:solidFill>
                  <a:schemeClr val="tx2"/>
                </a:solidFill>
                <a:latin typeface="Arial" panose="020B0604020202020204" pitchFamily="34" charset="0"/>
                <a:cs typeface="Arial" panose="020B0604020202020204" pitchFamily="34" charset="0"/>
              </a:rPr>
              <a:t>FINDINGS</a:t>
            </a:r>
          </a:p>
        </p:txBody>
      </p:sp>
      <p:sp>
        <p:nvSpPr>
          <p:cNvPr id="9" name="Text Placeholder 8"/>
          <p:cNvSpPr>
            <a:spLocks noGrp="1"/>
          </p:cNvSpPr>
          <p:nvPr>
            <p:ph type="body" sz="quarter" idx="25"/>
          </p:nvPr>
        </p:nvSpPr>
        <p:spPr>
          <a:xfrm>
            <a:off x="33397599" y="18770373"/>
            <a:ext cx="10047018" cy="677100"/>
          </a:xfrm>
        </p:spPr>
        <p:txBody>
          <a:bodyPr/>
          <a:lstStyle/>
          <a:p>
            <a:r>
              <a:rPr lang="en-US" sz="3200" dirty="0">
                <a:solidFill>
                  <a:schemeClr val="tx2"/>
                </a:solidFill>
                <a:latin typeface="Arial" panose="020B0604020202020204" pitchFamily="34" charset="0"/>
                <a:cs typeface="Arial" panose="020B0604020202020204" pitchFamily="34" charset="0"/>
              </a:rPr>
              <a:t>CONCLUSIONS</a:t>
            </a:r>
          </a:p>
        </p:txBody>
      </p:sp>
      <p:sp>
        <p:nvSpPr>
          <p:cNvPr id="11" name="Text Placeholder 10"/>
          <p:cNvSpPr>
            <a:spLocks noGrp="1"/>
          </p:cNvSpPr>
          <p:nvPr>
            <p:ph type="body" sz="quarter" idx="27"/>
          </p:nvPr>
        </p:nvSpPr>
        <p:spPr>
          <a:xfrm>
            <a:off x="33392567" y="28504101"/>
            <a:ext cx="10047018" cy="754045"/>
          </a:xfrm>
        </p:spPr>
        <p:txBody>
          <a:bodyPr/>
          <a:lstStyle/>
          <a:p>
            <a:r>
              <a:rPr lang="en-US" dirty="0">
                <a:solidFill>
                  <a:schemeClr val="tx2"/>
                </a:solidFill>
                <a:latin typeface="Arial" panose="020B0604020202020204" pitchFamily="34" charset="0"/>
                <a:cs typeface="Arial" panose="020B0604020202020204" pitchFamily="34" charset="0"/>
              </a:rPr>
              <a:t>REFERENCES</a:t>
            </a:r>
          </a:p>
        </p:txBody>
      </p:sp>
      <p:sp>
        <p:nvSpPr>
          <p:cNvPr id="16" name="Text Placeholder 15"/>
          <p:cNvSpPr>
            <a:spLocks noGrp="1"/>
          </p:cNvSpPr>
          <p:nvPr>
            <p:ph type="body" sz="quarter" idx="150"/>
          </p:nvPr>
        </p:nvSpPr>
        <p:spPr/>
        <p:txBody>
          <a:bodyPr>
            <a:normAutofit/>
          </a:bodyPr>
          <a:lstStyle/>
          <a:p>
            <a:r>
              <a:rPr lang="en-US" sz="4800" b="1" dirty="0">
                <a:latin typeface="Arial" panose="020B0604020202020204" pitchFamily="34" charset="0"/>
                <a:cs typeface="Arial" panose="020B0604020202020204" pitchFamily="34" charset="0"/>
              </a:rPr>
              <a:t>Laura Elena Lujan Martinez, CCT College, Student No. 2021418, Supervisor: </a:t>
            </a:r>
            <a:r>
              <a:rPr lang="en-US" sz="4800" b="1" dirty="0" err="1">
                <a:latin typeface="Arial" panose="020B0604020202020204" pitchFamily="34" charset="0"/>
                <a:cs typeface="Arial" panose="020B0604020202020204" pitchFamily="34" charset="0"/>
              </a:rPr>
              <a:t>Muhamaad</a:t>
            </a:r>
            <a:r>
              <a:rPr lang="en-US" sz="4800" b="1" dirty="0">
                <a:latin typeface="Arial" panose="020B0604020202020204" pitchFamily="34" charset="0"/>
                <a:cs typeface="Arial" panose="020B0604020202020204" pitchFamily="34" charset="0"/>
              </a:rPr>
              <a:t> Iqbal, 2026</a:t>
            </a:r>
          </a:p>
        </p:txBody>
      </p:sp>
      <p:sp>
        <p:nvSpPr>
          <p:cNvPr id="18" name="Text Placeholder 17"/>
          <p:cNvSpPr>
            <a:spLocks noGrp="1"/>
          </p:cNvSpPr>
          <p:nvPr>
            <p:ph type="body" sz="quarter" idx="153"/>
          </p:nvPr>
        </p:nvSpPr>
        <p:spPr>
          <a:xfrm>
            <a:off x="509578" y="817503"/>
            <a:ext cx="42901013" cy="2277387"/>
          </a:xfrm>
        </p:spPr>
        <p:txBody>
          <a:bodyPr>
            <a:normAutofit/>
          </a:bodyPr>
          <a:lstStyle/>
          <a:p>
            <a:r>
              <a:rPr lang="en-US" dirty="0"/>
              <a:t>Hotel Staffing Optimization Using Random Forest Regression</a:t>
            </a:r>
            <a:endParaRPr lang="en-US" dirty="0">
              <a:latin typeface="+mn-lt"/>
            </a:endParaRPr>
          </a:p>
        </p:txBody>
      </p:sp>
      <p:sp>
        <p:nvSpPr>
          <p:cNvPr id="27" name="Text Placeholder 6"/>
          <p:cNvSpPr>
            <a:spLocks noGrp="1"/>
          </p:cNvSpPr>
          <p:nvPr>
            <p:ph type="body" sz="quarter" idx="23"/>
          </p:nvPr>
        </p:nvSpPr>
        <p:spPr>
          <a:xfrm>
            <a:off x="22508758" y="16623054"/>
            <a:ext cx="10048874" cy="846363"/>
          </a:xfrm>
        </p:spPr>
        <p:txBody>
          <a:bodyPr/>
          <a:lstStyle/>
          <a:p>
            <a:r>
              <a:rPr lang="en-US" i="1" u="sng" dirty="0">
                <a:latin typeface="Arial" panose="020B0604020202020204" pitchFamily="34" charset="0"/>
                <a:cs typeface="Arial" panose="020B0604020202020204" pitchFamily="34" charset="0"/>
              </a:rPr>
              <a:t>Feature Importance</a:t>
            </a:r>
          </a:p>
        </p:txBody>
      </p:sp>
      <p:sp>
        <p:nvSpPr>
          <p:cNvPr id="28" name="Text Placeholder 6"/>
          <p:cNvSpPr>
            <a:spLocks noGrp="1"/>
          </p:cNvSpPr>
          <p:nvPr>
            <p:ph type="body" sz="quarter" idx="23"/>
          </p:nvPr>
        </p:nvSpPr>
        <p:spPr>
          <a:xfrm>
            <a:off x="22342697" y="6211384"/>
            <a:ext cx="10048874" cy="846363"/>
          </a:xfrm>
        </p:spPr>
        <p:txBody>
          <a:bodyPr/>
          <a:lstStyle/>
          <a:p>
            <a:r>
              <a:rPr lang="en-US" i="1" u="sng" dirty="0">
                <a:latin typeface="Arial" panose="020B0604020202020204" pitchFamily="34" charset="0"/>
                <a:cs typeface="Arial" panose="020B0604020202020204" pitchFamily="34" charset="0"/>
              </a:rPr>
              <a:t>Algorithm Comparison</a:t>
            </a:r>
          </a:p>
        </p:txBody>
      </p:sp>
      <p:sp>
        <p:nvSpPr>
          <p:cNvPr id="30" name="Text Placeholder 6"/>
          <p:cNvSpPr>
            <a:spLocks noGrp="1"/>
          </p:cNvSpPr>
          <p:nvPr>
            <p:ph type="body" sz="quarter" idx="23"/>
          </p:nvPr>
        </p:nvSpPr>
        <p:spPr>
          <a:xfrm>
            <a:off x="33427274" y="10182179"/>
            <a:ext cx="10048874" cy="846363"/>
          </a:xfrm>
        </p:spPr>
        <p:txBody>
          <a:bodyPr/>
          <a:lstStyle/>
          <a:p>
            <a:r>
              <a:rPr lang="en-US" i="1" u="sng" dirty="0">
                <a:solidFill>
                  <a:schemeClr val="tx2"/>
                </a:solidFill>
                <a:latin typeface="Arial" panose="020B0604020202020204" pitchFamily="34" charset="0"/>
                <a:cs typeface="Arial" panose="020B0604020202020204" pitchFamily="34" charset="0"/>
              </a:rPr>
              <a:t>Staffing Recommendation Output</a:t>
            </a:r>
          </a:p>
        </p:txBody>
      </p:sp>
      <p:sp>
        <p:nvSpPr>
          <p:cNvPr id="31" name="Text Placeholder 11"/>
          <p:cNvSpPr>
            <a:spLocks noGrp="1"/>
          </p:cNvSpPr>
          <p:nvPr>
            <p:ph type="body" sz="quarter" idx="28"/>
          </p:nvPr>
        </p:nvSpPr>
        <p:spPr>
          <a:xfrm>
            <a:off x="33392567" y="11064732"/>
            <a:ext cx="10052050" cy="2769967"/>
          </a:xfrm>
        </p:spPr>
        <p:txBody>
          <a:bodyPr/>
          <a:lstStyle/>
          <a:p>
            <a:r>
              <a:rPr lang="en-US" dirty="0">
                <a:solidFill>
                  <a:schemeClr val="tx1"/>
                </a:solidFill>
                <a:latin typeface="Arial" panose="020B0604020202020204" pitchFamily="34" charset="0"/>
                <a:cs typeface="Arial" panose="020B0604020202020204" pitchFamily="34" charset="0"/>
              </a:rPr>
              <a:t>The model's predictions were converted into daily staffing recommendations using a ratio of one staff member per ten guests. The resulting bar chart provides hotel managers with a clear, </a:t>
            </a:r>
            <a:r>
              <a:rPr lang="en-US" dirty="0" err="1">
                <a:solidFill>
                  <a:schemeClr val="tx1"/>
                </a:solidFill>
                <a:latin typeface="Arial" panose="020B0604020202020204" pitchFamily="34" charset="0"/>
                <a:cs typeface="Arial" panose="020B0604020202020204" pitchFamily="34" charset="0"/>
              </a:rPr>
              <a:t>colour</a:t>
            </a:r>
            <a:r>
              <a:rPr lang="en-US" dirty="0">
                <a:solidFill>
                  <a:schemeClr val="tx1"/>
                </a:solidFill>
                <a:latin typeface="Arial" panose="020B0604020202020204" pitchFamily="34" charset="0"/>
                <a:cs typeface="Arial" panose="020B0604020202020204" pitchFamily="34" charset="0"/>
              </a:rPr>
              <a:t>-coded visual output showing recommended staff numbers for upcoming days — directly addressing the original business objective of reducing staffing inefficiency.</a:t>
            </a:r>
          </a:p>
        </p:txBody>
      </p:sp>
      <p:sp>
        <p:nvSpPr>
          <p:cNvPr id="32" name="Content Placeholder 2"/>
          <p:cNvSpPr txBox="1">
            <a:spLocks/>
          </p:cNvSpPr>
          <p:nvPr/>
        </p:nvSpPr>
        <p:spPr>
          <a:xfrm>
            <a:off x="748454" y="29694077"/>
            <a:ext cx="9397301" cy="979718"/>
          </a:xfrm>
          <a:prstGeom prst="rect">
            <a:avLst/>
          </a:prstGeom>
        </p:spPr>
        <p:txBody>
          <a:bodyPr wrap="square" lIns="228589" tIns="228589" rIns="228589" bIns="228589">
            <a:spAutoFit/>
          </a:bodyPr>
          <a:lstStyle>
            <a:defPPr>
              <a:defRPr lang="en-US"/>
            </a:defPPr>
            <a:lvl1pPr indent="0">
              <a:spcBef>
                <a:spcPct val="20000"/>
              </a:spcBef>
              <a:buFont typeface="Arial" pitchFamily="34" charset="0"/>
              <a:buNone/>
              <a:defRPr sz="2400">
                <a:latin typeface="Arial" panose="020B0604020202020204" pitchFamily="34" charset="0"/>
                <a:cs typeface="Arial" panose="020B0604020202020204" pitchFamily="34" charset="0"/>
              </a:defRPr>
            </a:lvl1pPr>
            <a:lvl2pPr marL="1485825" indent="-571471">
              <a:spcBef>
                <a:spcPct val="20000"/>
              </a:spcBef>
              <a:buFont typeface="Arial" pitchFamily="34" charset="0"/>
              <a:buChar char="–"/>
              <a:defRPr sz="2500">
                <a:latin typeface="Trebuchet MS" pitchFamily="34" charset="0"/>
              </a:defRPr>
            </a:lvl2pPr>
            <a:lvl3pPr marL="2057297" indent="-571471">
              <a:spcBef>
                <a:spcPct val="20000"/>
              </a:spcBef>
              <a:buFont typeface="Arial" pitchFamily="34" charset="0"/>
              <a:buChar char="•"/>
              <a:defRPr sz="2500">
                <a:latin typeface="Trebuchet MS" pitchFamily="34" charset="0"/>
              </a:defRPr>
            </a:lvl3pPr>
            <a:lvl4pPr marL="2685916" indent="-628619">
              <a:spcBef>
                <a:spcPct val="20000"/>
              </a:spcBef>
              <a:buFont typeface="Arial" pitchFamily="34" charset="0"/>
              <a:buChar char="–"/>
              <a:defRPr sz="2500">
                <a:latin typeface="Trebuchet MS" pitchFamily="34" charset="0"/>
              </a:defRPr>
            </a:lvl4pPr>
            <a:lvl5pPr marL="3143093" indent="-457177">
              <a:spcBef>
                <a:spcPct val="20000"/>
              </a:spcBef>
              <a:buFont typeface="Arial" pitchFamily="34" charset="0"/>
              <a:buChar char="»"/>
              <a:defRPr sz="2500">
                <a:latin typeface="Trebuchet MS" pitchFamily="34" charset="0"/>
              </a:defRPr>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The iterative nature of CRISP-DM was demonstrated when poor initial results prompted a return to Data Preparation, where a critical error in the occupancy definition was identified and corrected.</a:t>
            </a:r>
            <a:endParaRPr lang="en-IE" dirty="0"/>
          </a:p>
        </p:txBody>
      </p:sp>
      <p:sp>
        <p:nvSpPr>
          <p:cNvPr id="25" name="Rectangle 24"/>
          <p:cNvSpPr/>
          <p:nvPr/>
        </p:nvSpPr>
        <p:spPr>
          <a:xfrm>
            <a:off x="1543050" y="32318325"/>
            <a:ext cx="2828925" cy="4381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6" name="Content Placeholder 2"/>
          <p:cNvSpPr txBox="1">
            <a:spLocks/>
          </p:cNvSpPr>
          <p:nvPr/>
        </p:nvSpPr>
        <p:spPr>
          <a:xfrm>
            <a:off x="22508758" y="6927638"/>
            <a:ext cx="9795691" cy="4729644"/>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US" sz="2500" dirty="0"/>
              <a:t>Three candidate algorithms were evaluated using </a:t>
            </a:r>
            <a:r>
              <a:rPr lang="en-US" sz="2500" dirty="0" err="1"/>
              <a:t>TimeSeriesSplit</a:t>
            </a:r>
            <a:r>
              <a:rPr lang="en-US" sz="2500" dirty="0"/>
              <a:t> cross-validation across 5 folds. All three algorithms produced negative average R² scores during cross-validation, which is expected given the small training folds in early splits. However, Random Forest consistently outperformed the others, achieving the highest average R² of -0.2470 and the most stable results across folds. When trained on the full training set of 634 days, the Random Forest model achieved a final R² of 0.7133 on the held-out test set.</a:t>
            </a:r>
            <a:endParaRPr lang="en-IE" sz="2500" dirty="0"/>
          </a:p>
        </p:txBody>
      </p:sp>
      <p:sp>
        <p:nvSpPr>
          <p:cNvPr id="40" name="Text Placeholder 3"/>
          <p:cNvSpPr>
            <a:spLocks noGrp="1"/>
          </p:cNvSpPr>
          <p:nvPr>
            <p:ph type="body" sz="quarter" idx="20"/>
          </p:nvPr>
        </p:nvSpPr>
        <p:spPr>
          <a:xfrm>
            <a:off x="433727" y="11101250"/>
            <a:ext cx="10026754" cy="754045"/>
          </a:xfrm>
        </p:spPr>
        <p:txBody>
          <a:bodyPr/>
          <a:lstStyle/>
          <a:p>
            <a:r>
              <a:rPr lang="en-US" dirty="0">
                <a:solidFill>
                  <a:schemeClr val="tx2"/>
                </a:solidFill>
                <a:latin typeface="Arial" panose="020B0604020202020204" pitchFamily="34" charset="0"/>
                <a:cs typeface="Arial" panose="020B0604020202020204" pitchFamily="34" charset="0"/>
              </a:rPr>
              <a:t>RESEARCH QUESTIONS</a:t>
            </a:r>
          </a:p>
        </p:txBody>
      </p:sp>
      <p:sp>
        <p:nvSpPr>
          <p:cNvPr id="41" name="Content Placeholder 2"/>
          <p:cNvSpPr txBox="1">
            <a:spLocks/>
          </p:cNvSpPr>
          <p:nvPr/>
        </p:nvSpPr>
        <p:spPr>
          <a:xfrm>
            <a:off x="1064122" y="12102730"/>
            <a:ext cx="9736942" cy="5262957"/>
          </a:xfrm>
          <a:prstGeom prst="rect">
            <a:avLst/>
          </a:prstGeom>
        </p:spPr>
        <p:txBody>
          <a:bodyPr wrap="square" lIns="228589" tIns="228589" rIns="228589" bIns="228589">
            <a:spAutoFit/>
          </a:bodyPr>
          <a:lstStyle>
            <a:lvl1pPr indent="0">
              <a:spcBef>
                <a:spcPct val="20000"/>
              </a:spcBef>
              <a:buFont typeface="Arial" pitchFamily="34" charset="0"/>
              <a:buNone/>
              <a:defRPr sz="2400">
                <a:latin typeface="Arial" panose="020B0604020202020204" pitchFamily="34" charset="0"/>
                <a:cs typeface="Arial" panose="020B0604020202020204" pitchFamily="34" charset="0"/>
              </a:defRPr>
            </a:lvl1pPr>
            <a:lvl2pPr marL="1485825" indent="-571471">
              <a:spcBef>
                <a:spcPct val="20000"/>
              </a:spcBef>
              <a:buFont typeface="Arial" pitchFamily="34" charset="0"/>
              <a:buChar char="–"/>
              <a:defRPr sz="2500">
                <a:latin typeface="Trebuchet MS" pitchFamily="34" charset="0"/>
              </a:defRPr>
            </a:lvl2pPr>
            <a:lvl3pPr marL="2057297" indent="-571471">
              <a:spcBef>
                <a:spcPct val="20000"/>
              </a:spcBef>
              <a:buFont typeface="Arial" pitchFamily="34" charset="0"/>
              <a:buChar char="•"/>
              <a:defRPr sz="2500">
                <a:latin typeface="Trebuchet MS" pitchFamily="34" charset="0"/>
              </a:defRPr>
            </a:lvl3pPr>
            <a:lvl4pPr marL="2685916" indent="-628619">
              <a:spcBef>
                <a:spcPct val="20000"/>
              </a:spcBef>
              <a:buFont typeface="Arial" pitchFamily="34" charset="0"/>
              <a:buChar char="–"/>
              <a:defRPr sz="2500">
                <a:latin typeface="Trebuchet MS" pitchFamily="34" charset="0"/>
              </a:defRPr>
            </a:lvl4pPr>
            <a:lvl5pPr marL="3143093" indent="-457177">
              <a:spcBef>
                <a:spcPct val="20000"/>
              </a:spcBef>
              <a:buFont typeface="Arial" pitchFamily="34" charset="0"/>
              <a:buChar char="»"/>
              <a:defRPr sz="2500">
                <a:latin typeface="Trebuchet MS" pitchFamily="34" charset="0"/>
              </a:defRPr>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IE" dirty="0"/>
              <a:t>The four  questions below represent the core focus of the entire study:</a:t>
            </a:r>
          </a:p>
          <a:p>
            <a:endParaRPr lang="en-IE" dirty="0"/>
          </a:p>
          <a:p>
            <a:r>
              <a:rPr lang="en-IE" dirty="0"/>
              <a:t>Q.1. </a:t>
            </a:r>
            <a:r>
              <a:rPr lang="en-US" dirty="0"/>
              <a:t>Can historical hotel booking data, weather observations, and Dublin events be combined to accurately predict daily hotel occupancy?</a:t>
            </a:r>
            <a:endParaRPr lang="en-IE" dirty="0"/>
          </a:p>
          <a:p>
            <a:r>
              <a:rPr lang="en-IE" dirty="0"/>
              <a:t>Q.2. </a:t>
            </a:r>
            <a:r>
              <a:rPr lang="en-US" dirty="0"/>
              <a:t>Which machine learning algorithm best captures the non-linear demand patterns present in hotel occupancy data?</a:t>
            </a:r>
          </a:p>
          <a:p>
            <a:r>
              <a:rPr lang="en-IE" dirty="0"/>
              <a:t>Q.3 </a:t>
            </a:r>
            <a:r>
              <a:rPr lang="en-US" dirty="0"/>
              <a:t>What is the impact of correctly defining the target variable, nightly occupancy versus daily arrivals on model performance?</a:t>
            </a:r>
          </a:p>
          <a:p>
            <a:r>
              <a:rPr lang="en-IE" dirty="0"/>
              <a:t>Q.4 </a:t>
            </a:r>
            <a:r>
              <a:rPr lang="en-US" dirty="0"/>
              <a:t>Can predicted occupancy be reliably converted into a practical daily staffing recommendation for hotel operations management?</a:t>
            </a:r>
            <a:endParaRPr lang="en-IE" dirty="0"/>
          </a:p>
        </p:txBody>
      </p:sp>
      <p:sp>
        <p:nvSpPr>
          <p:cNvPr id="42" name="Content Placeholder 2"/>
          <p:cNvSpPr txBox="1">
            <a:spLocks/>
          </p:cNvSpPr>
          <p:nvPr/>
        </p:nvSpPr>
        <p:spPr>
          <a:xfrm>
            <a:off x="33513137" y="19818089"/>
            <a:ext cx="9736942" cy="841356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A summarised answer to the research questions are presented below:</a:t>
            </a:r>
          </a:p>
          <a:p>
            <a:pPr marL="0" indent="0" algn="just" defTabSz="895350">
              <a:buFont typeface="Arial" pitchFamily="34" charset="0"/>
              <a:buNone/>
            </a:pPr>
            <a:endParaRPr lang="en-IE" sz="10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Q.1.</a:t>
            </a:r>
            <a:r>
              <a:rPr lang="en-IE"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Yes. Combining hotel booking history, Met Éireann weather data, and Dublin events data produced a model that successfully predicts daily occupancy, achieving an R² of 0.7133 on unseen test data. Historical occupancy lag features proved to be the strongest predictors, confirming that recent booking patterns carry the most signal.</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Q.2. </a:t>
            </a:r>
            <a:r>
              <a:rPr lang="en-IE" sz="22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Random Forest Regression outperformed both Linear Regression and Decision Tree across all cross-validation folds. Linear Regression failed to capture the non-linear demand patterns in the data, while Random Forest's ensemble approach produced the most stable and accurate results, confirmed by the lowest standard deviation across folds.</a:t>
            </a:r>
            <a:endParaRPr lang="en-IE" sz="22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Q.3 </a:t>
            </a:r>
            <a:r>
              <a:rPr lang="en-IE"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The impact was critical. Defining occupancy as daily arrivals rather than nightly guests present caused the model to fail completely, producing an R² of -0.2051. Correcting this single definition transformed model performance to R² = 0.7133 ,demonstrating that an incorrectly defined target variable cannot be overcome by any amount of feature engineering or algorithm tuning.</a:t>
            </a:r>
          </a:p>
          <a:p>
            <a:pPr marL="0" indent="0" defTabSz="895350">
              <a:buNone/>
            </a:pPr>
            <a:r>
              <a:rPr lang="en-IE" sz="2200" b="1" dirty="0">
                <a:latin typeface="Arial" panose="020B0604020202020204" pitchFamily="34" charset="0"/>
                <a:cs typeface="Arial" panose="020B0604020202020204" pitchFamily="34" charset="0"/>
              </a:rPr>
              <a:t>Q.4</a:t>
            </a:r>
            <a:r>
              <a:rPr lang="en-IE"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Yes. Applying a ratio of one staff member per ten guests, the model's MAE of 16.66 guests translates to an average staffing error of 1–2 staff per day, an operationally acceptable margin for weekly planning. The output is visualized as a color-coded bar chart suitable for deployment via a Power BI dashboard.</a:t>
            </a:r>
            <a:endParaRPr lang="en-IE" sz="2200" i="1" dirty="0">
              <a:latin typeface="Arial" panose="020B0604020202020204" pitchFamily="34" charset="0"/>
              <a:cs typeface="Arial" panose="020B0604020202020204" pitchFamily="34" charset="0"/>
            </a:endParaRPr>
          </a:p>
        </p:txBody>
      </p:sp>
      <p:sp>
        <p:nvSpPr>
          <p:cNvPr id="45" name="Text Placeholder 4"/>
          <p:cNvSpPr>
            <a:spLocks noGrp="1"/>
          </p:cNvSpPr>
          <p:nvPr>
            <p:ph type="body" sz="quarter" idx="21"/>
          </p:nvPr>
        </p:nvSpPr>
        <p:spPr>
          <a:xfrm>
            <a:off x="11459293" y="25496880"/>
            <a:ext cx="10048874" cy="846363"/>
          </a:xfrm>
        </p:spPr>
        <p:txBody>
          <a:bodyPr/>
          <a:lstStyle/>
          <a:p>
            <a:r>
              <a:rPr lang="en-US" b="1" i="1" u="sng" dirty="0">
                <a:solidFill>
                  <a:schemeClr val="tx2"/>
                </a:solidFill>
                <a:latin typeface="Arial" panose="020B0604020202020204" pitchFamily="34" charset="0"/>
                <a:cs typeface="Arial" panose="020B0604020202020204" pitchFamily="34" charset="0"/>
              </a:rPr>
              <a:t>Data Collection</a:t>
            </a:r>
          </a:p>
        </p:txBody>
      </p:sp>
      <p:sp>
        <p:nvSpPr>
          <p:cNvPr id="39" name="Content Placeholder 2">
            <a:extLst>
              <a:ext uri="{FF2B5EF4-FFF2-40B4-BE49-F238E27FC236}">
                <a16:creationId xmlns:a16="http://schemas.microsoft.com/office/drawing/2014/main" id="{2EFFBC5F-0C09-40DB-9DFE-B704854ECCA6}"/>
              </a:ext>
            </a:extLst>
          </p:cNvPr>
          <p:cNvSpPr txBox="1">
            <a:spLocks/>
          </p:cNvSpPr>
          <p:nvPr/>
        </p:nvSpPr>
        <p:spPr>
          <a:xfrm>
            <a:off x="11693941" y="8028377"/>
            <a:ext cx="9662432" cy="979718"/>
          </a:xfrm>
          <a:prstGeom prst="rect">
            <a:avLst/>
          </a:prstGeom>
        </p:spPr>
        <p:txBody>
          <a:bodyPr>
            <a:normAutofit fontScale="70000" lnSpcReduction="20000"/>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endParaRPr lang="en-IE" sz="9600" dirty="0">
              <a:latin typeface="Arial" panose="020B0604020202020204" pitchFamily="34" charset="0"/>
              <a:cs typeface="Arial" panose="020B0604020202020204" pitchFamily="34" charset="0"/>
            </a:endParaRPr>
          </a:p>
        </p:txBody>
      </p:sp>
      <p:sp>
        <p:nvSpPr>
          <p:cNvPr id="34" name="Text Placeholder 4"/>
          <p:cNvSpPr>
            <a:spLocks noGrp="1"/>
          </p:cNvSpPr>
          <p:nvPr>
            <p:ph type="body" sz="quarter" idx="21"/>
          </p:nvPr>
        </p:nvSpPr>
        <p:spPr>
          <a:xfrm>
            <a:off x="11516684" y="16652389"/>
            <a:ext cx="10048874" cy="846363"/>
          </a:xfrm>
        </p:spPr>
        <p:txBody>
          <a:bodyPr/>
          <a:lstStyle/>
          <a:p>
            <a:r>
              <a:rPr lang="en-US" b="1" i="1" u="sng" dirty="0">
                <a:solidFill>
                  <a:schemeClr val="tx2"/>
                </a:solidFill>
                <a:latin typeface="Arial" panose="020B0604020202020204" pitchFamily="34" charset="0"/>
                <a:cs typeface="Arial" panose="020B0604020202020204" pitchFamily="34" charset="0"/>
              </a:rPr>
              <a:t>Research Methods</a:t>
            </a:r>
          </a:p>
        </p:txBody>
      </p:sp>
      <p:sp>
        <p:nvSpPr>
          <p:cNvPr id="35" name="Text Placeholder 4">
            <a:extLst>
              <a:ext uri="{FF2B5EF4-FFF2-40B4-BE49-F238E27FC236}">
                <a16:creationId xmlns:a16="http://schemas.microsoft.com/office/drawing/2014/main" id="{9000B3FD-55D3-45AB-92CB-10A741BAA0B3}"/>
              </a:ext>
            </a:extLst>
          </p:cNvPr>
          <p:cNvSpPr txBox="1">
            <a:spLocks/>
          </p:cNvSpPr>
          <p:nvPr/>
        </p:nvSpPr>
        <p:spPr>
          <a:xfrm>
            <a:off x="11476356" y="17258185"/>
            <a:ext cx="10048874" cy="1938970"/>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00" dirty="0">
                <a:solidFill>
                  <a:schemeClr val="tx1"/>
                </a:solidFill>
                <a:latin typeface="Arial" panose="020B0604020202020204" pitchFamily="34" charset="0"/>
                <a:cs typeface="Arial" panose="020B0604020202020204" pitchFamily="34" charset="0"/>
              </a:rPr>
              <a:t>This project follows a quantitative, data-driven approach. The diagram below summarizes the methods and tools applied across the three phases of the project: data collection and exploration, data preparation, and machine learning modelling and evaluation</a:t>
            </a:r>
            <a:r>
              <a:rPr lang="en-GB" sz="2400" dirty="0">
                <a:solidFill>
                  <a:schemeClr val="tx1"/>
                </a:solidFill>
                <a:latin typeface="Arial" panose="020B0604020202020204" pitchFamily="34" charset="0"/>
                <a:cs typeface="Arial" panose="020B0604020202020204" pitchFamily="34" charset="0"/>
              </a:rPr>
              <a:t>. </a:t>
            </a:r>
            <a:endParaRPr lang="en-US" sz="2400" dirty="0">
              <a:solidFill>
                <a:schemeClr val="tx1"/>
              </a:solidFill>
              <a:latin typeface="Arial" panose="020B0604020202020204" pitchFamily="34" charset="0"/>
              <a:cs typeface="Arial" panose="020B0604020202020204" pitchFamily="34" charset="0"/>
            </a:endParaRPr>
          </a:p>
        </p:txBody>
      </p:sp>
      <p:sp>
        <p:nvSpPr>
          <p:cNvPr id="43" name="Text Placeholder 4">
            <a:extLst>
              <a:ext uri="{FF2B5EF4-FFF2-40B4-BE49-F238E27FC236}">
                <a16:creationId xmlns:a16="http://schemas.microsoft.com/office/drawing/2014/main" id="{D01E89C6-0794-4157-9DEF-383030D60FAB}"/>
              </a:ext>
            </a:extLst>
          </p:cNvPr>
          <p:cNvSpPr txBox="1">
            <a:spLocks/>
          </p:cNvSpPr>
          <p:nvPr/>
        </p:nvSpPr>
        <p:spPr>
          <a:xfrm>
            <a:off x="11447321" y="26027104"/>
            <a:ext cx="10048874" cy="830975"/>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GB" sz="2400" dirty="0">
                <a:solidFill>
                  <a:schemeClr val="tx1"/>
                </a:solidFill>
                <a:latin typeface="Arial" panose="020B0604020202020204" pitchFamily="34" charset="0"/>
                <a:cs typeface="Arial" panose="020B0604020202020204" pitchFamily="34" charset="0"/>
              </a:rPr>
              <a:t>The table below is a summary of the data collected for the study.</a:t>
            </a:r>
            <a:endParaRPr lang="en-US" sz="2400" dirty="0">
              <a:solidFill>
                <a:schemeClr val="tx1"/>
              </a:solidFill>
              <a:latin typeface="Arial" panose="020B0604020202020204" pitchFamily="34" charset="0"/>
              <a:cs typeface="Arial" panose="020B0604020202020204" pitchFamily="34" charset="0"/>
            </a:endParaRPr>
          </a:p>
        </p:txBody>
      </p:sp>
      <p:sp>
        <p:nvSpPr>
          <p:cNvPr id="46" name="Content Placeholder 2">
            <a:extLst>
              <a:ext uri="{FF2B5EF4-FFF2-40B4-BE49-F238E27FC236}">
                <a16:creationId xmlns:a16="http://schemas.microsoft.com/office/drawing/2014/main" id="{BA7BC14E-5C68-4BFC-B8B8-A1CD9BF3BFC9}"/>
              </a:ext>
            </a:extLst>
          </p:cNvPr>
          <p:cNvSpPr txBox="1">
            <a:spLocks/>
          </p:cNvSpPr>
          <p:nvPr/>
        </p:nvSpPr>
        <p:spPr>
          <a:xfrm>
            <a:off x="22576982" y="17453027"/>
            <a:ext cx="9428190" cy="373985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US" sz="2500" dirty="0"/>
              <a:t>The feature importance analysis revealed that occupancy lag variables dominated the model's predictions. </a:t>
            </a:r>
            <a:r>
              <a:rPr lang="en-US" sz="2500" dirty="0" err="1"/>
              <a:t>occupancy_yesterday</a:t>
            </a:r>
            <a:r>
              <a:rPr lang="en-US" sz="2500" dirty="0"/>
              <a:t> alone accounted for approximately 80% of prediction power, confirming that recent booking history is the strongest signal for nightly demand. Weather conditions, events, and day of week contributed minimal predictive weight, consistent with the EDA finding that Dublin city hotels maintain steady occupancy regardless of weather.</a:t>
            </a:r>
            <a:endParaRPr lang="en-IE" sz="2500" dirty="0"/>
          </a:p>
        </p:txBody>
      </p:sp>
      <p:sp>
        <p:nvSpPr>
          <p:cNvPr id="47" name="Content Placeholder 2">
            <a:extLst>
              <a:ext uri="{FF2B5EF4-FFF2-40B4-BE49-F238E27FC236}">
                <a16:creationId xmlns:a16="http://schemas.microsoft.com/office/drawing/2014/main" id="{C12A8FE5-E10F-498E-9E7D-EC629905A877}"/>
              </a:ext>
            </a:extLst>
          </p:cNvPr>
          <p:cNvSpPr txBox="1">
            <a:spLocks/>
          </p:cNvSpPr>
          <p:nvPr/>
        </p:nvSpPr>
        <p:spPr>
          <a:xfrm>
            <a:off x="33656519" y="29479722"/>
            <a:ext cx="9593560" cy="262117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None/>
            </a:pPr>
            <a:r>
              <a:rPr lang="en-IE" sz="900" dirty="0">
                <a:latin typeface="Arial" panose="020B0604020202020204" pitchFamily="34" charset="0"/>
                <a:cs typeface="Arial" panose="020B0604020202020204" pitchFamily="34" charset="0"/>
              </a:rPr>
              <a:t>Müller, A.C. and Guido, S. (2016) Introduction to Machine Learning with Python: A Guide for Data Scientists. Chapter 4: Utilizing Expert Knowledge, p. 242. Available at: https://www.nrigroupindia.com/e-book/Introduction%20to%20Machine%20Learning%20with%20Python%20(%20PDFDrive.com%20)-min.pdf [Accessed 28 May 2026]. </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Li, S. (2019) Ocean Sea Breeze EDA and Time Series forecast for Occupancy, GitHub repository. Available at: https://github.com/susanli2016/Machine-Learning-with-Python/blob/master/Ocean%20Sea%20Breeze%20EDA%20and%20Time%20Series%20forecast%20for%20Occupancy.ipynb [Accessed 28 May 2026]. </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Pandas Developers (2021) Bug: Unexpected behaviour or documentation gap for </a:t>
            </a:r>
            <a:r>
              <a:rPr lang="en-IE" sz="900" dirty="0" err="1">
                <a:latin typeface="Arial" panose="020B0604020202020204" pitchFamily="34" charset="0"/>
                <a:cs typeface="Arial" panose="020B0604020202020204" pitchFamily="34" charset="0"/>
              </a:rPr>
              <a:t>pd.to_datetime</a:t>
            </a:r>
            <a:r>
              <a:rPr lang="en-IE" sz="900" dirty="0">
                <a:latin typeface="Arial" panose="020B0604020202020204" pitchFamily="34" charset="0"/>
                <a:cs typeface="Arial" panose="020B0604020202020204" pitchFamily="34" charset="0"/>
              </a:rPr>
              <a:t> with specific formats, GitHub Issue #39142. Available at: https://github.com/pandas-dev/pandas/issues/39142 [Accessed 28 May 2026]. </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Met Éireann (2017) Historical Data: Available Meteorological Observations, Met Éireann - The Irish Meteorological Service. Available at: https://www.met.ie/climate/available-data/historical-data [Accessed 28 May 2026]. </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err="1">
                <a:latin typeface="Arial" panose="020B0604020202020204" pitchFamily="34" charset="0"/>
                <a:cs typeface="Arial" panose="020B0604020202020204" pitchFamily="34" charset="0"/>
              </a:rPr>
              <a:t>Mostipak</a:t>
            </a:r>
            <a:r>
              <a:rPr lang="en-IE" sz="900" dirty="0">
                <a:latin typeface="Arial" panose="020B0604020202020204" pitchFamily="34" charset="0"/>
                <a:cs typeface="Arial" panose="020B0604020202020204" pitchFamily="34" charset="0"/>
              </a:rPr>
              <a:t>, J. (2020) Hotel Booking Demand Dataset, Kaggle Datasets. Available at: https://www.kaggle.com/datasets/jessemostipak/hotel-booking-demand [Accessed 28 May 2026]. </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err="1">
                <a:latin typeface="Arial" panose="020B0604020202020204" pitchFamily="34" charset="0"/>
                <a:cs typeface="Arial" panose="020B0604020202020204" pitchFamily="34" charset="0"/>
              </a:rPr>
              <a:t>GeeksforGeeks</a:t>
            </a:r>
            <a:r>
              <a:rPr lang="en-IE" sz="900" dirty="0">
                <a:latin typeface="Arial" panose="020B0604020202020204" pitchFamily="34" charset="0"/>
                <a:cs typeface="Arial" panose="020B0604020202020204" pitchFamily="34" charset="0"/>
              </a:rPr>
              <a:t> (2023) Python map() function, </a:t>
            </a:r>
            <a:r>
              <a:rPr lang="en-IE" sz="900" dirty="0" err="1">
                <a:latin typeface="Arial" panose="020B0604020202020204" pitchFamily="34" charset="0"/>
                <a:cs typeface="Arial" panose="020B0604020202020204" pitchFamily="34" charset="0"/>
              </a:rPr>
              <a:t>GeeksforGeeks</a:t>
            </a:r>
            <a:r>
              <a:rPr lang="en-IE" sz="900" dirty="0">
                <a:latin typeface="Arial" panose="020B0604020202020204" pitchFamily="34" charset="0"/>
                <a:cs typeface="Arial" panose="020B0604020202020204" pitchFamily="34" charset="0"/>
              </a:rPr>
              <a:t> Programming Reference. Available at: https://www.geeksforgeeks.org/python/python-map-function/ [Accessed 28 May 2026].</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W3Schools (2022) Python String replace() Method, W3Schools Python Reference. Available at: https://www.w3schools.com/python/ref_string_replace.asp [Accessed 28 May 2026].</a:t>
            </a:r>
          </a:p>
          <a:p>
            <a:pPr marL="0" indent="0" algn="just" defTabSz="895350">
              <a:buNone/>
            </a:pPr>
            <a:endParaRPr lang="en-IE" sz="9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36E3AC5-9837-1983-DB05-8282D74C4D2B}"/>
              </a:ext>
            </a:extLst>
          </p:cNvPr>
          <p:cNvPicPr>
            <a:picLocks noChangeAspect="1"/>
          </p:cNvPicPr>
          <p:nvPr/>
        </p:nvPicPr>
        <p:blipFill>
          <a:blip r:embed="rId3"/>
          <a:stretch>
            <a:fillRect/>
          </a:stretch>
        </p:blipFill>
        <p:spPr>
          <a:xfrm>
            <a:off x="906133" y="21674412"/>
            <a:ext cx="9081944" cy="7548180"/>
          </a:xfrm>
          <a:prstGeom prst="rect">
            <a:avLst/>
          </a:prstGeom>
        </p:spPr>
      </p:pic>
      <p:sp>
        <p:nvSpPr>
          <p:cNvPr id="56" name="TextBox 55">
            <a:extLst>
              <a:ext uri="{FF2B5EF4-FFF2-40B4-BE49-F238E27FC236}">
                <a16:creationId xmlns:a16="http://schemas.microsoft.com/office/drawing/2014/main" id="{3B726704-8257-6FBB-1900-B35E2C34FB07}"/>
              </a:ext>
            </a:extLst>
          </p:cNvPr>
          <p:cNvSpPr txBox="1"/>
          <p:nvPr/>
        </p:nvSpPr>
        <p:spPr>
          <a:xfrm>
            <a:off x="721952" y="19353574"/>
            <a:ext cx="9624125" cy="1938970"/>
          </a:xfrm>
          <a:prstGeom prst="rect">
            <a:avLst/>
          </a:prstGeom>
        </p:spPr>
        <p:txBody>
          <a:bodyPr wrap="square" lIns="228589" tIns="228589" rIns="228589" bIns="228589">
            <a:spAutoFit/>
          </a:bodyPr>
          <a:lstStyle>
            <a:lvl1pPr indent="0">
              <a:spcBef>
                <a:spcPct val="20000"/>
              </a:spcBef>
              <a:buFont typeface="Arial" pitchFamily="34" charset="0"/>
              <a:buNone/>
              <a:defRPr sz="2400">
                <a:latin typeface="Arial" panose="020B0604020202020204" pitchFamily="34" charset="0"/>
                <a:cs typeface="Arial" panose="020B0604020202020204" pitchFamily="34" charset="0"/>
              </a:defRPr>
            </a:lvl1pPr>
            <a:lvl2pPr marL="1485825" indent="-571471">
              <a:spcBef>
                <a:spcPct val="20000"/>
              </a:spcBef>
              <a:buFont typeface="Arial" pitchFamily="34" charset="0"/>
              <a:buChar char="–"/>
              <a:defRPr sz="2500">
                <a:latin typeface="Trebuchet MS" pitchFamily="34" charset="0"/>
              </a:defRPr>
            </a:lvl2pPr>
            <a:lvl3pPr marL="2057297" indent="-571471">
              <a:spcBef>
                <a:spcPct val="20000"/>
              </a:spcBef>
              <a:buFont typeface="Arial" pitchFamily="34" charset="0"/>
              <a:buChar char="•"/>
              <a:defRPr sz="2500">
                <a:latin typeface="Trebuchet MS" pitchFamily="34" charset="0"/>
              </a:defRPr>
            </a:lvl3pPr>
            <a:lvl4pPr marL="2685916" indent="-628619">
              <a:spcBef>
                <a:spcPct val="20000"/>
              </a:spcBef>
              <a:buFont typeface="Arial" pitchFamily="34" charset="0"/>
              <a:buChar char="–"/>
              <a:defRPr sz="2500">
                <a:latin typeface="Trebuchet MS" pitchFamily="34" charset="0"/>
              </a:defRPr>
            </a:lvl4pPr>
            <a:lvl5pPr marL="3143093" indent="-457177">
              <a:spcBef>
                <a:spcPct val="20000"/>
              </a:spcBef>
              <a:buFont typeface="Arial" pitchFamily="34" charset="0"/>
              <a:buChar char="»"/>
              <a:defRPr sz="2500">
                <a:latin typeface="Trebuchet MS" pitchFamily="34" charset="0"/>
              </a:defRPr>
            </a:lvl5pPr>
            <a:lvl6pPr marL="12069477" indent="-1097226">
              <a:spcBef>
                <a:spcPct val="20000"/>
              </a:spcBef>
              <a:buFont typeface="Arial" pitchFamily="34" charset="0"/>
              <a:buChar char="•"/>
              <a:defRPr sz="9600"/>
            </a:lvl6pPr>
            <a:lvl7pPr marL="14263926" indent="-1097226">
              <a:spcBef>
                <a:spcPct val="20000"/>
              </a:spcBef>
              <a:buFont typeface="Arial" pitchFamily="34" charset="0"/>
              <a:buChar char="•"/>
              <a:defRPr sz="9600"/>
            </a:lvl7pPr>
            <a:lvl8pPr marL="16458377" indent="-1097226">
              <a:spcBef>
                <a:spcPct val="20000"/>
              </a:spcBef>
              <a:buFont typeface="Arial" pitchFamily="34" charset="0"/>
              <a:buChar char="•"/>
              <a:defRPr sz="9600"/>
            </a:lvl8pPr>
            <a:lvl9pPr marL="18652827" indent="-1097226">
              <a:spcBef>
                <a:spcPct val="20000"/>
              </a:spcBef>
              <a:buFont typeface="Arial" pitchFamily="34" charset="0"/>
              <a:buChar char="•"/>
              <a:defRPr sz="9600"/>
            </a:lvl9pPr>
          </a:lstStyle>
          <a:p>
            <a:r>
              <a:rPr lang="en-US" dirty="0"/>
              <a:t>This project is structured around the CRISP-DM (Cross-Industry Standard Process for Data Mining) methodology, a six-stage iterative framework that guided every decision from problem definition through to deployment.</a:t>
            </a:r>
            <a:endParaRPr lang="en-IE" dirty="0"/>
          </a:p>
        </p:txBody>
      </p:sp>
      <p:pic>
        <p:nvPicPr>
          <p:cNvPr id="59" name="Picture 58">
            <a:extLst>
              <a:ext uri="{FF2B5EF4-FFF2-40B4-BE49-F238E27FC236}">
                <a16:creationId xmlns:a16="http://schemas.microsoft.com/office/drawing/2014/main" id="{3C5C4238-C8DF-DF79-DB49-81BA8D4C4382}"/>
              </a:ext>
            </a:extLst>
          </p:cNvPr>
          <p:cNvPicPr>
            <a:picLocks noChangeAspect="1"/>
          </p:cNvPicPr>
          <p:nvPr/>
        </p:nvPicPr>
        <p:blipFill>
          <a:blip r:embed="rId4"/>
          <a:stretch>
            <a:fillRect/>
          </a:stretch>
        </p:blipFill>
        <p:spPr>
          <a:xfrm>
            <a:off x="11879784" y="10458094"/>
            <a:ext cx="9126739" cy="5522693"/>
          </a:xfrm>
          <a:prstGeom prst="rect">
            <a:avLst/>
          </a:prstGeom>
        </p:spPr>
      </p:pic>
      <p:pic>
        <p:nvPicPr>
          <p:cNvPr id="61" name="Picture 60">
            <a:extLst>
              <a:ext uri="{FF2B5EF4-FFF2-40B4-BE49-F238E27FC236}">
                <a16:creationId xmlns:a16="http://schemas.microsoft.com/office/drawing/2014/main" id="{DA1A3584-44A0-C568-485A-BB9D487A8BD1}"/>
              </a:ext>
            </a:extLst>
          </p:cNvPr>
          <p:cNvPicPr>
            <a:picLocks noChangeAspect="1"/>
          </p:cNvPicPr>
          <p:nvPr/>
        </p:nvPicPr>
        <p:blipFill>
          <a:blip r:embed="rId5"/>
          <a:stretch>
            <a:fillRect/>
          </a:stretch>
        </p:blipFill>
        <p:spPr>
          <a:xfrm>
            <a:off x="11877332" y="19283242"/>
            <a:ext cx="8992855" cy="5973009"/>
          </a:xfrm>
          <a:prstGeom prst="rect">
            <a:avLst/>
          </a:prstGeom>
        </p:spPr>
      </p:pic>
      <p:pic>
        <p:nvPicPr>
          <p:cNvPr id="63" name="Picture 62">
            <a:extLst>
              <a:ext uri="{FF2B5EF4-FFF2-40B4-BE49-F238E27FC236}">
                <a16:creationId xmlns:a16="http://schemas.microsoft.com/office/drawing/2014/main" id="{9B91F188-A1D1-4CD8-7891-C98C11932D18}"/>
              </a:ext>
            </a:extLst>
          </p:cNvPr>
          <p:cNvPicPr>
            <a:picLocks noChangeAspect="1"/>
          </p:cNvPicPr>
          <p:nvPr/>
        </p:nvPicPr>
        <p:blipFill>
          <a:blip r:embed="rId6"/>
          <a:stretch>
            <a:fillRect/>
          </a:stretch>
        </p:blipFill>
        <p:spPr>
          <a:xfrm>
            <a:off x="11693941" y="26999889"/>
            <a:ext cx="9494970" cy="4082199"/>
          </a:xfrm>
          <a:prstGeom prst="rect">
            <a:avLst/>
          </a:prstGeom>
        </p:spPr>
      </p:pic>
      <p:pic>
        <p:nvPicPr>
          <p:cNvPr id="4096" name="Picture 4095">
            <a:extLst>
              <a:ext uri="{FF2B5EF4-FFF2-40B4-BE49-F238E27FC236}">
                <a16:creationId xmlns:a16="http://schemas.microsoft.com/office/drawing/2014/main" id="{6A95C329-D2AC-9133-C0C1-DD740C493269}"/>
              </a:ext>
            </a:extLst>
          </p:cNvPr>
          <p:cNvPicPr>
            <a:picLocks noChangeAspect="1"/>
          </p:cNvPicPr>
          <p:nvPr/>
        </p:nvPicPr>
        <p:blipFill>
          <a:blip r:embed="rId7"/>
          <a:stretch>
            <a:fillRect/>
          </a:stretch>
        </p:blipFill>
        <p:spPr>
          <a:xfrm>
            <a:off x="23110477" y="10170588"/>
            <a:ext cx="8017223" cy="6266508"/>
          </a:xfrm>
          <a:prstGeom prst="rect">
            <a:avLst/>
          </a:prstGeom>
        </p:spPr>
      </p:pic>
      <p:pic>
        <p:nvPicPr>
          <p:cNvPr id="4104" name="Picture 4103">
            <a:extLst>
              <a:ext uri="{FF2B5EF4-FFF2-40B4-BE49-F238E27FC236}">
                <a16:creationId xmlns:a16="http://schemas.microsoft.com/office/drawing/2014/main" id="{AB271B9C-A9E4-6060-D7D1-0B357D9BFAB6}"/>
              </a:ext>
            </a:extLst>
          </p:cNvPr>
          <p:cNvPicPr>
            <a:picLocks noChangeAspect="1"/>
          </p:cNvPicPr>
          <p:nvPr/>
        </p:nvPicPr>
        <p:blipFill>
          <a:blip r:embed="rId8"/>
          <a:stretch>
            <a:fillRect/>
          </a:stretch>
        </p:blipFill>
        <p:spPr>
          <a:xfrm>
            <a:off x="22989027" y="20323059"/>
            <a:ext cx="8507022" cy="4433532"/>
          </a:xfrm>
          <a:prstGeom prst="rect">
            <a:avLst/>
          </a:prstGeom>
        </p:spPr>
      </p:pic>
      <p:pic>
        <p:nvPicPr>
          <p:cNvPr id="4105" name="Picture 4104">
            <a:extLst>
              <a:ext uri="{FF2B5EF4-FFF2-40B4-BE49-F238E27FC236}">
                <a16:creationId xmlns:a16="http://schemas.microsoft.com/office/drawing/2014/main" id="{0DC3B3CF-D257-23EA-B1A7-A61773876D1A}"/>
              </a:ext>
            </a:extLst>
          </p:cNvPr>
          <p:cNvPicPr>
            <a:picLocks noChangeAspect="1"/>
          </p:cNvPicPr>
          <p:nvPr/>
        </p:nvPicPr>
        <p:blipFill>
          <a:blip r:embed="rId9"/>
          <a:stretch>
            <a:fillRect/>
          </a:stretch>
        </p:blipFill>
        <p:spPr>
          <a:xfrm>
            <a:off x="33656519" y="13834699"/>
            <a:ext cx="9313292" cy="4566205"/>
          </a:xfrm>
          <a:prstGeom prst="rect">
            <a:avLst/>
          </a:prstGeom>
        </p:spPr>
      </p:pic>
      <p:sp>
        <p:nvSpPr>
          <p:cNvPr id="4106" name="Text Placeholder 6">
            <a:extLst>
              <a:ext uri="{FF2B5EF4-FFF2-40B4-BE49-F238E27FC236}">
                <a16:creationId xmlns:a16="http://schemas.microsoft.com/office/drawing/2014/main" id="{5EE93C39-D4B7-3D45-5E36-D3EB6767D705}"/>
              </a:ext>
            </a:extLst>
          </p:cNvPr>
          <p:cNvSpPr txBox="1">
            <a:spLocks/>
          </p:cNvSpPr>
          <p:nvPr/>
        </p:nvSpPr>
        <p:spPr>
          <a:xfrm>
            <a:off x="33395743" y="5619610"/>
            <a:ext cx="10048874" cy="1308028"/>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i="1" u="sng" dirty="0">
                <a:solidFill>
                  <a:schemeClr val="tx2"/>
                </a:solidFill>
                <a:latin typeface="Arial" panose="020B0604020202020204" pitchFamily="34" charset="0"/>
                <a:cs typeface="Arial" panose="020B0604020202020204" pitchFamily="34" charset="0"/>
              </a:rPr>
              <a:t>Model Accuracy — Actual vs Predicted Occupancy</a:t>
            </a:r>
          </a:p>
          <a:p>
            <a:endParaRPr lang="en-US" i="1" u="sng" dirty="0">
              <a:solidFill>
                <a:schemeClr val="tx2"/>
              </a:solidFill>
              <a:latin typeface="Arial" panose="020B0604020202020204" pitchFamily="34" charset="0"/>
              <a:cs typeface="Arial" panose="020B0604020202020204" pitchFamily="34" charset="0"/>
            </a:endParaRPr>
          </a:p>
        </p:txBody>
      </p:sp>
      <p:sp>
        <p:nvSpPr>
          <p:cNvPr id="4107" name="Text Placeholder 11">
            <a:extLst>
              <a:ext uri="{FF2B5EF4-FFF2-40B4-BE49-F238E27FC236}">
                <a16:creationId xmlns:a16="http://schemas.microsoft.com/office/drawing/2014/main" id="{AECE974E-F71E-E5F4-5572-8595BC039CC1}"/>
              </a:ext>
            </a:extLst>
          </p:cNvPr>
          <p:cNvSpPr txBox="1">
            <a:spLocks/>
          </p:cNvSpPr>
          <p:nvPr/>
        </p:nvSpPr>
        <p:spPr>
          <a:xfrm>
            <a:off x="33427274" y="6246459"/>
            <a:ext cx="10052050" cy="3924129"/>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1"/>
                </a:solidFill>
                <a:latin typeface="Arial" panose="020B0604020202020204" pitchFamily="34" charset="0"/>
                <a:cs typeface="Arial" panose="020B0604020202020204" pitchFamily="34" charset="0"/>
              </a:rPr>
              <a:t>The scatter plot below compares the model's predicted guest numbers against the actual recorded occupancy across the 147-day test period. Each dot represents one day. A perfect model would place every dot exactly on the diagonal line. The tight clustering of points around the diagonal confirms the model learned genuine patterns rather than random noise. The slight spread at lower occupancy values indicates the model is marginally less precise on quieter nights, which has minimal impact on staffing decisions as these are the easiest periods to manage</a:t>
            </a:r>
          </a:p>
        </p:txBody>
      </p:sp>
      <p:sp>
        <p:nvSpPr>
          <p:cNvPr id="4108" name="Text Placeholder 6">
            <a:extLst>
              <a:ext uri="{FF2B5EF4-FFF2-40B4-BE49-F238E27FC236}">
                <a16:creationId xmlns:a16="http://schemas.microsoft.com/office/drawing/2014/main" id="{C836E6B4-8276-34A9-F8FE-C29ADDB1E038}"/>
              </a:ext>
            </a:extLst>
          </p:cNvPr>
          <p:cNvSpPr txBox="1">
            <a:spLocks/>
          </p:cNvSpPr>
          <p:nvPr/>
        </p:nvSpPr>
        <p:spPr>
          <a:xfrm>
            <a:off x="22455719" y="25017739"/>
            <a:ext cx="10048874"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i="1" u="sng" dirty="0">
                <a:latin typeface="Arial" panose="020B0604020202020204" pitchFamily="34" charset="0"/>
                <a:cs typeface="Arial" panose="020B0604020202020204" pitchFamily="34" charset="0"/>
              </a:rPr>
              <a:t>Feature Importance</a:t>
            </a:r>
          </a:p>
        </p:txBody>
      </p:sp>
      <p:sp>
        <p:nvSpPr>
          <p:cNvPr id="4109" name="Content Placeholder 2">
            <a:extLst>
              <a:ext uri="{FF2B5EF4-FFF2-40B4-BE49-F238E27FC236}">
                <a16:creationId xmlns:a16="http://schemas.microsoft.com/office/drawing/2014/main" id="{B81B1A0F-25E9-6928-FCCE-A9A259874501}"/>
              </a:ext>
            </a:extLst>
          </p:cNvPr>
          <p:cNvSpPr txBox="1">
            <a:spLocks/>
          </p:cNvSpPr>
          <p:nvPr/>
        </p:nvSpPr>
        <p:spPr>
          <a:xfrm>
            <a:off x="22631027" y="25739867"/>
            <a:ext cx="9428190" cy="373985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buNone/>
            </a:pPr>
            <a:r>
              <a:rPr lang="en-US" sz="2500" dirty="0"/>
              <a:t>The scatter plot below compares the model's predicted guest numbers against the actual recorded occupancy across the test period. Each dot represents one day. A perfect model would place every dot exactly on the diagonal line. The tight clustering of points around the diagonal confirms the model learned genuine patterns rather than random noise</a:t>
            </a:r>
            <a:endParaRPr lang="en-IE" sz="2500" dirty="0"/>
          </a:p>
        </p:txBody>
      </p:sp>
      <p:pic>
        <p:nvPicPr>
          <p:cNvPr id="4110" name="Picture 4109">
            <a:extLst>
              <a:ext uri="{FF2B5EF4-FFF2-40B4-BE49-F238E27FC236}">
                <a16:creationId xmlns:a16="http://schemas.microsoft.com/office/drawing/2014/main" id="{30FEB3F4-83BF-7EA1-0BDB-E98AB862EDD0}"/>
              </a:ext>
            </a:extLst>
          </p:cNvPr>
          <p:cNvPicPr>
            <a:picLocks noChangeAspect="1"/>
          </p:cNvPicPr>
          <p:nvPr/>
        </p:nvPicPr>
        <p:blipFill>
          <a:blip r:embed="rId10"/>
          <a:stretch>
            <a:fillRect/>
          </a:stretch>
        </p:blipFill>
        <p:spPr>
          <a:xfrm>
            <a:off x="23554705" y="27867848"/>
            <a:ext cx="7032775" cy="4258307"/>
          </a:xfrm>
          <a:prstGeom prst="rect">
            <a:avLst/>
          </a:prstGeom>
        </p:spPr>
      </p:pic>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3524</TotalTime>
  <Words>1416</Words>
  <Application>Microsoft Office PowerPoint</Application>
  <PresentationFormat>Custom</PresentationFormat>
  <Paragraphs>53</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Laura Lujan</cp:lastModifiedBy>
  <cp:revision>120</cp:revision>
  <dcterms:created xsi:type="dcterms:W3CDTF">2012-02-03T19:11:35Z</dcterms:created>
  <dcterms:modified xsi:type="dcterms:W3CDTF">2026-05-31T22:46:24Z</dcterms:modified>
</cp:coreProperties>
</file>